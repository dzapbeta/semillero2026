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6B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737360"/>
            <a:ext cx="1243584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CLASE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4000">
                <a:solidFill>
                  <a:srgbClr val="FFFFFF"/>
                </a:solidFill>
                <a:latin typeface="Century Gothic"/>
              </a:rPr>
              <a:t>Screenplay con Serenity BDD y Cucumber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1005840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2200">
                <a:solidFill>
                  <a:srgbClr val="36B5FF"/>
                </a:solidFill>
                <a:latin typeface="Century Gothic"/>
              </a:rPr>
              <a:t>Automatizamos el inicio de sesión de Sauce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05840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600">
                <a:solidFill>
                  <a:srgbClr val="C9D6E3"/>
                </a:solidFill>
                <a:latin typeface="Century Gothic"/>
              </a:rPr>
              <a:t>Miércoles 23 de septiembre de 2026 · Diego Zapata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600200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FRAMEWORKS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Tres herramientas, cada una con su oficio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094415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600">
                <a:solidFill>
                  <a:srgbClr val="C9D6E3"/>
                </a:solidFill>
                <a:latin typeface="Century Gothic"/>
              </a:rPr>
              <a:t>Gradle las descarga y las ejecuta con un solo comando: gradle clean test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545738" cy="384048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Selenium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3088538" cy="2926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Mueve el navegador: abre la página, escribe, da clic y lee textos.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2286000"/>
            <a:ext cx="3545738" cy="384048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51578" y="251460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Serenity BDD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1578" y="3017520"/>
            <a:ext cx="3088538" cy="2926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Trabaja encima de Selenium. Organiza el código con Screenplay, espera los elementos y arma el reporte.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2286000"/>
            <a:ext cx="3545738" cy="384048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325916" y="251460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Cucumber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5916" y="3017520"/>
            <a:ext cx="3088538" cy="2926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Lee los escenarios escritos en español y llama al código Java de cada frase.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2 · Screenplay Web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768096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BDD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BDD: la prueba escrita en español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094415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600">
                <a:solidFill>
                  <a:srgbClr val="C9D6E3"/>
                </a:solidFill>
                <a:latin typeface="Century Gothic"/>
              </a:rPr>
              <a:t>Así se lee un escenario de login.feature. Lo que va entre comillas son datos.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2602153" cy="384048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214495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Dado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2144953" cy="2926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que "Ana" abre la página de Sauce Demo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9393" y="2286000"/>
            <a:ext cx="2602153" cy="384048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07993" y="2514600"/>
            <a:ext cx="214495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Cuando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7993" y="3017520"/>
            <a:ext cx="2144953" cy="2926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inicia sesión con el usuario "standard_user" y la clave "secret_sauce"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6" y="2286000"/>
            <a:ext cx="2602153" cy="384048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38746" y="2514600"/>
            <a:ext cx="214495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Entonces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8746" y="3017520"/>
            <a:ext cx="2144953" cy="2926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debería ver el título "Products"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40899" y="2286000"/>
            <a:ext cx="2602153" cy="384048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269499" y="2514600"/>
            <a:ext cx="214495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@exitoso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69499" y="3017520"/>
            <a:ext cx="2144953" cy="2926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Es un tag. Sirve para ejecutar solo este escenario.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2 · Screenplay Web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600200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SCREENPLAY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Screenplay es una obra de teatro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El guion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El feature. Cualquiera del equipo lo puede leer.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73736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51578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La actriz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1578" y="246888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Ana. Usa la página como lo haría una persona.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173736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25916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El escenario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5916" y="246888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Hooks lo prepara y le da a Ana la habilidad de usar el navegador.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4622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427482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Lo que hace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7774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Tareas, como IniciarSesion, hechas de movimientos pequeños.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2978" y="404622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51578" y="427482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Lo que mira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477774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Preguntas, como TituloDeLaPagina o MensajeDeError.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7316" y="404622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325916" y="427482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El mapa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477774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PaginaLogin y PaginaProductos dicen dónde está cada cosa.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2 · Screenplay Web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CAPAS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Las capas del proyecto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11094414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0771"/>
                <a:gridCol w="4659654"/>
                <a:gridCol w="3993989"/>
              </a:tblGrid>
              <a:tr h="50292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Capa</a:t>
                      </a:r>
                    </a:p>
                  </a:txBody>
                  <a:tcPr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Qué guarda</a:t>
                      </a:r>
                    </a:p>
                  </a:txBody>
                  <a:tcPr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En el proyecto</a:t>
                      </a:r>
                    </a:p>
                  </a:txBody>
                  <a:tcPr>
                    <a:solidFill>
                      <a:srgbClr val="0072B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runners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El botón de arranque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SauceDemoRunner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stepsdefinitions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Las frases del feature conectadas a Java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LoginSteps, Hooks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tasks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Lo que el usuario quiere lograr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IniciarSesion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interactions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Acciones pequeñas hechas por nosotros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AbrirLaPagina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questions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Lo que el actor mira para validar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TituloDeLaPagina, MensajeDeError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userinterfaces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Dónde está cada elemento de la página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PaginaLogin, PaginaProductos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exceptions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El error propio cuando algo no coincide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ErrorDeValidacion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utils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Datos fijos: URL y mensajes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Constantes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2 · Screenplay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RECORRIDO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Recorrido de un paso hasta Chrome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57400"/>
            <a:ext cx="1889699" cy="26517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432499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login.feature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88920"/>
            <a:ext cx="1432499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Cuando inicia sesión con el usuario y la clave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84059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49819" y="2057400"/>
            <a:ext cx="1889699" cy="26517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078419" y="2286000"/>
            <a:ext cx="1432499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LoginSteps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78419" y="2788920"/>
            <a:ext cx="1432499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Busca la misma frase y le pide la tarea a Ana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785238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150998" y="2057400"/>
            <a:ext cx="1889699" cy="26517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79598" y="2286000"/>
            <a:ext cx="1432499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IniciarSesion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79598" y="2788920"/>
            <a:ext cx="1432499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Escribe usuario, escribe clave, da clic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086417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52177" y="2057400"/>
            <a:ext cx="1889699" cy="26517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680777" y="2286000"/>
            <a:ext cx="1432499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PaginaLogin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777" y="2788920"/>
            <a:ext cx="1432499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Dice dónde está cada campo: id="user-name"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387596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753356" y="2057400"/>
            <a:ext cx="1889699" cy="26517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981956" y="2286000"/>
            <a:ext cx="1432499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Chrome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81956" y="2788920"/>
            <a:ext cx="1432499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Selenium le da la orden y Chrome escribe y da clic de verdad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029200"/>
            <a:ext cx="11094415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600">
                <a:solidFill>
                  <a:srgbClr val="C9D6E3"/>
                </a:solidFill>
                <a:latin typeface="Century Gothic"/>
              </a:rPr>
              <a:t>Los steps no tienen clics ni localizadores. Los localizadores solo viven en userinterfaces.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2 · Screenplay Web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TASKS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Una tarea por dentro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200">
                <a:solidFill>
                  <a:srgbClr val="36B5FF"/>
                </a:solidFill>
                <a:latin typeface="Century Gothic"/>
              </a:rPr>
              <a:t>Java (IniciarSesion.java)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@Step("{0} inicia sesión con el usuario #usuario")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@Override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public &lt;T extends Actor&gt; void performAs(T actor)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actor.attemptsTo(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    Enter.theValue(usuario).into(PaginaLogin.CAMPO_USUARIO),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    Enter.theValue(clave).into(PaginaLogin.CAMPO_CLAVE),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    Click.on(PaginaLogin.BOTON_INGRESAR)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performAs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 es lo que hace el actor.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Enter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 escribe un valor en un campo.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Click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 da clic en un elemento.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Los campos vienen de </a:t>
            </a:r>
            <a:r>
              <a:rPr b="0" sz="1600">
                <a:solidFill>
                  <a:srgbClr val="36B5FF"/>
                </a:solidFill>
                <a:latin typeface="Consolas"/>
              </a:rPr>
              <a:t>PaginaLogin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@Step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 es el texto que sale en el reporte.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2 · Screenplay 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Validar con una pregunta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200">
                <a:solidFill>
                  <a:srgbClr val="36B5FF"/>
                </a:solidFill>
                <a:latin typeface="Century Gothic"/>
              </a:rPr>
              <a:t>Java (LoginSteps.java)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@Entonces("debería ver el título {string}")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public void deberiaVerElTitulo(String tituloEsperado)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theActorInTheSpotlight().should(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    seeThat(TituloDeLaPagina.visible(),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    equalTo(tituloEsperado))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            .orComplainWith(ErrorDeValidacion.class,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        Constantes.TITULO_DIFERENTE)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seeThat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 hace la pregunta.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equalTo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 la compara con lo esperado.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Si no coincide, </a:t>
            </a:r>
            <a:r>
              <a:rPr b="0" sz="1600">
                <a:solidFill>
                  <a:srgbClr val="36B5FF"/>
                </a:solidFill>
                <a:latin typeface="Consolas"/>
              </a:rPr>
              <a:t>orComplainWith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 falla con nuestro </a:t>
            </a:r>
            <a:r>
              <a:rPr b="0" sz="1600">
                <a:solidFill>
                  <a:srgbClr val="36B5FF"/>
                </a:solidFill>
                <a:latin typeface="Consolas"/>
              </a:rPr>
              <a:t>ErrorDeValidacion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El mensaje en español sale de </a:t>
            </a:r>
            <a:r>
              <a:rPr b="0" sz="1600">
                <a:solidFill>
                  <a:srgbClr val="36B5FF"/>
                </a:solidFill>
                <a:latin typeface="Consolas"/>
              </a:rPr>
              <a:t>Constantes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2 · Screenplay 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EJECUCIÓN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Ejecutar y leer el resultado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200">
                <a:solidFill>
                  <a:srgbClr val="36B5FF"/>
                </a:solidFill>
                <a:latin typeface="Century Gothic"/>
              </a:rPr>
              <a:t>PowerShell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# Todo, viendo Chrome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gradle clean test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# Sin ventana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gradle clean test "-Dheadless.mode=true"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# Solo un tag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gradle clean test "-Dcucumber.filter.tags=@bloqueado"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# Abrir el reporte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start target\site\serenity\index.html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Se ejecuta en PowerShell, en la carpeta del proyecto.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Los </a:t>
            </a:r>
            <a:r>
              <a:rPr b="0" sz="1600">
                <a:solidFill>
                  <a:srgbClr val="36B5FF"/>
                </a:solidFill>
                <a:latin typeface="Consolas"/>
              </a:rPr>
              <a:t>-D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 van entre comillas.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PASSED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la prueba pasó. </a:t>
            </a:r>
            <a:r>
              <a:rPr b="0" sz="1600">
                <a:solidFill>
                  <a:srgbClr val="36B5FF"/>
                </a:solidFill>
                <a:latin typeface="Consolas"/>
              </a:rPr>
              <a:t>FAILED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falló.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Con un tag, los demás escenarios salen </a:t>
            </a:r>
            <a:r>
              <a:rPr b="0" sz="1600">
                <a:solidFill>
                  <a:srgbClr val="36B5FF"/>
                </a:solidFill>
                <a:latin typeface="Consolas"/>
              </a:rPr>
              <a:t>SKIPPED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2 · Screenplay 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CIERRE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Actividad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6766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Un escenario nuevo: agregar la mochila al carrito y ver 1 en el contador.</a:t>
            </a:r>
          </a:p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Creas lo mínimo en cada capa: localizadores, tarea, pregunta y steps.</a:t>
            </a:r>
          </a:p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Reto opcional: login con clave incorrecta.</a:t>
            </a:r>
          </a:p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Entregas GitHub o .zip con captura en verde.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80960" y="1737360"/>
            <a:ext cx="3962095" cy="393192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909560" y="1965960"/>
            <a:ext cx="3504895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Entrega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2468880"/>
            <a:ext cx="3504895" cy="3017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Viernes 25 de septiembre de 2026, 8:00 a.m.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Retroalimentación: Viernes 25 de septiembre de 2026, 8:00 – 9:00 a.m.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2 · Screenplay 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Diego Zapata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