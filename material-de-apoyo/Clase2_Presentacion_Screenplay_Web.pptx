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 – 9:05 · 5 min] Bienvenida. La hora 8:00–9:00 fue la retro de la actividad 1. Conectar con la clase anterior: hoy usamos clases, objetos, encapsulamiento, herencia y polimorfismo en un proyecto real. Pedir que todos tengan la rama 02-screenplay-serenity-cucumber-web descargada y que hayan ejecutado mvn -v.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[9:05 – 9:10 · 5 min] Leer el objetivo en voz alta. Explicar la agenda de 4 bloques y la pausa de 10:15 a 10:25. Aclarar que la actividad se entrega el Viernes 25 de septiembre de 2026, 8:00 a.m..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[9:10 – 9:25 · 15 min] Demo en vivo: ejecutar mvn clean verify con el navegador visible y dejar que vean los 5 escenarios. Preguntar: ¿qué tendrían que programar a mano solo con Selenium? (abrir/cerrar driver, capturas, reporte, organización). Mostrar serenity.conf: driver = chrome y headless.mode =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[9:25 – 9:50 · 25 min] Abrir compra.feature real (el extracto omite los comentarios y el escenario de compra completa para que quepa). Explicar # language: es, Antecedentes y tags. Ejercicio de 10 min: por parejas, reescribir en forma declarativa un escenario imperativo (escribe en user-name, clic en login-button). Discutir 2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[9:50 – 10:15 · 25 min] Analogía del teatro: actor, guion (tasks) y lo que observa (questions). Recorrer cada tarjeta abriendo la clase real en IntelliJ. Recalcar POO: Task, Interaction y Question son interfaces; Serenity llama performAs sin saber la clase concreta (polimorfismo). [10:15 – 10:25 · PAUSA 10 min]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[10:25 – 10:50 · 25 min] Abrir el árbol de carpetas del README. Para cada capa decir qué hace y qué NO debe hacer (tabla de la guía, sección 5). Mostrar models/Usuario (encapsulamiento) y exceptions (herencia: ErrorEnLaCompra → ErrorDeValidacion → AssertionError). Pregunta rápida: ¿en qué capa va By.id("checkout")?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[10:50 – 11:15 · 25 min] Leer la Task línea por línea. Live coding de 15 min: crear juntos la Question CantidadEnCarrito o revisar cómo se usa en CompraStepDefinitions con .orComplainWith(ErrorEnLaCompra.class, ...). Romper a propósito un texto esperado para ver el mensaje propio en consola y luego restaurarlo.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[11:15 – 11:30 · 15 min] Ejecutar headless con @login y mostrar que Maven marca Skipped los no seleccionados. Abrir target/site/serenity/index.html: resumen, características, pasos ("Carlos inicia sesión con el usuario standard_user") y capturas por paso. Recordar: la captura del reporte en verde es parte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[11:30 – 11:45 · 15 min] Contar cada error como historia corta. Mostrar en vivo uno: cambiar una palabra del feature para ver el paso undefined y el snippet que sugiere Cucumber; restaurar. Mencionar la advertencia de CDP que aparece en consola y que es inofensiva.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[11:45 – 12:00 · 15 min] Leer el enunciado de la actividad (nivel básico: detalle de producto; reto: validaciones del checkout y quitar del carrito). Aclarar fecha y forma de entrega y la rúbrica de 10 puntos. Resolver dudas. Recordar que la retroalimentación es el Viernes 25 de septiembre de 2026, 8:00 – 9:00 a.m..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37398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2 · AUTOMATIZACIÓN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Screenplay con Serenity BDD y Cucumber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Automatización web por capas, de Gherkin al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Miércoles 23 de septiembre de 2026 · 9:00 a.m. – 12:00 m.  ·  Diego Zapata — Equipo Transversal QS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Objetivo y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Al final: leer, ejecutar y extender un proyecto Screenplay sin romper sus capas.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144953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36B5FF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Framework y BDD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2144953" cy="2514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9:10 – 9:50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Demo en vivo del proyecto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Selenium y Serenity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Gherkin en español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Ejercicio declarativo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9393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7993" y="2514600"/>
            <a:ext cx="2144953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36B5FF"/>
                </a:solidFill>
                <a:latin typeface="Century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993" y="292608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Screenplay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7993" y="3429000"/>
            <a:ext cx="2144953" cy="2514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9:50 – 10:15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Actor y Habilidad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Task e Interaction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Question y Target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Pausa 10:15 – 10:25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6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8746" y="2514600"/>
            <a:ext cx="2144953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36B5FF"/>
                </a:solidFill>
                <a:latin typeface="Century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6" y="292608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Capas y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746" y="3429000"/>
            <a:ext cx="2144953" cy="2514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10:25 – 11:15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Árbol de carpetas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Regla de dependencia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POO en el proyecto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Una Task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0899" y="2286000"/>
            <a:ext cx="2602153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69499" y="2514600"/>
            <a:ext cx="2144953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36B5FF"/>
                </a:solidFill>
                <a:latin typeface="Century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9499" y="2926080"/>
            <a:ext cx="214495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Ejecución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99" y="3429000"/>
            <a:ext cx="2144953" cy="2514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11:15 – 12:00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Comandos y tags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Reporte Serenity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Errores comunes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Actividad y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¿Por qué un framework?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Selenium resuelve el “cómo”; Serenity y Cucumber dan estructura, lenguaje y evidencia.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Selenium WebDriver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Controla un navegador real: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abrir, buscar, escribir, clic.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Estándar W3C, varios lenguajes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y navegadores.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Selenium Manager descarga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driver compatible.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 el proyecto: </a:t>
            </a:r>
            <a:r>
              <a:rPr b="0" sz="1400">
                <a:solidFill>
                  <a:srgbClr val="36B5FF"/>
                </a:solidFill>
                <a:latin typeface="Consolas"/>
              </a:rPr>
              <a:t>4.46.0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Serenity BDD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 monta sobre Selenium: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y cierra el navegador solo.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Patrón Screenplay y esperas.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Captura por paso y reporte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HTML vivo en </a:t>
            </a:r>
            <a:r>
              <a:rPr b="0" sz="1400">
                <a:solidFill>
                  <a:srgbClr val="36B5FF"/>
                </a:solidFill>
                <a:latin typeface="Consolas"/>
              </a:rPr>
              <a:t>target/site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 el proyecto: </a:t>
            </a:r>
            <a:r>
              <a:rPr b="0" sz="1400">
                <a:solidFill>
                  <a:srgbClr val="36B5FF"/>
                </a:solidFill>
                <a:latin typeface="Consolas"/>
              </a:rPr>
              <a:t>5.3.11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Cucumber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Lee escenarios en Gherkin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escritos en español.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Los conecta con Java mediante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step definitions (glue).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Filtra con tags: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@login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, </a:t>
            </a:r>
            <a:r>
              <a:rPr b="0" sz="1400">
                <a:solidFill>
                  <a:srgbClr val="36B5FF"/>
                </a:solidFill>
                <a:latin typeface="Consolas"/>
              </a:rPr>
              <a:t>@compra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 el proyecto: </a:t>
            </a:r>
            <a:r>
              <a:rPr b="0" sz="1400">
                <a:solidFill>
                  <a:srgbClr val="36B5FF"/>
                </a:solidFill>
                <a:latin typeface="Consolas"/>
              </a:rPr>
              <a:t>7.34.2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BDD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BDD en una diapositiva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Gherkin · compra.feature (extracto)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# language: es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@compra @regresion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Característica: Compra de productos en Sauce Demo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Antecedentes: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Dado que "Carlos" abre la tienda Sauce Demo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Y inicia sesión como usuario "estandar"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@carrito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Escenario: Agregar un producto al carrito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Cuando agrega el producto "Sauce Labs Backpack" al carrito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Entonces el carrito debería mostrar 1 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Dado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contexto ·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Cuando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acción ·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Entonces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resultado.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Declarativo: el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qué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, nunca ids ni clics.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Tags para filtrar: </a:t>
            </a:r>
            <a:r>
              <a:rPr b="0" sz="1600">
                <a:solidFill>
                  <a:srgbClr val="36B5FF"/>
                </a:solidFill>
                <a:latin typeface="Consolas"/>
              </a:rPr>
              <a:t>@compra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, </a:t>
            </a:r>
            <a:r>
              <a:rPr b="0" sz="1600">
                <a:solidFill>
                  <a:srgbClr val="36B5FF"/>
                </a:solidFill>
                <a:latin typeface="Consolas"/>
              </a:rPr>
              <a:t>@regresion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 escenario = un comportamiento independiente.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SCREENPLAY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Patrón Screenplay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Quien usa el sistema: </a:t>
            </a:r>
            <a:r>
              <a:rPr b="0" sz="1400">
                <a:solidFill>
                  <a:srgbClr val="36B5FF"/>
                </a:solidFill>
                <a:latin typeface="Consolas"/>
              </a:rPr>
              <a:t>theActorCalled("Carlos")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Habilidad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 que puede hacer: </a:t>
            </a:r>
            <a:r>
              <a:rPr b="0" sz="1400">
                <a:solidFill>
                  <a:srgbClr val="36B5FF"/>
                </a:solidFill>
                <a:latin typeface="Consolas"/>
              </a:rPr>
              <a:t>BrowseTheWeb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vía </a:t>
            </a:r>
            <a:r>
              <a:rPr b="0" sz="1400">
                <a:solidFill>
                  <a:srgbClr val="36B5FF"/>
                </a:solidFill>
                <a:latin typeface="Consolas"/>
              </a:rPr>
              <a:t>OnlineCast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Objetivo de negocio: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IniciarSesion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.conCredenciales(usuario)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Interaction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Acción técnica: </a:t>
            </a:r>
            <a:r>
              <a:rPr b="0" sz="1400">
                <a:solidFill>
                  <a:srgbClr val="36B5FF"/>
                </a:solidFill>
                <a:latin typeface="Consolas"/>
              </a:rPr>
              <a:t>EsperarVisible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, </a:t>
            </a:r>
            <a:r>
              <a:rPr b="0" sz="1400">
                <a:solidFill>
                  <a:srgbClr val="36B5FF"/>
                </a:solidFill>
                <a:latin typeface="Consolas"/>
              </a:rPr>
              <a:t>Click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, </a:t>
            </a:r>
            <a:r>
              <a:rPr b="0" sz="1400">
                <a:solidFill>
                  <a:srgbClr val="36B5FF"/>
                </a:solidFill>
                <a:latin typeface="Consolas"/>
              </a:rPr>
              <a:t>Enter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Lee la pantalla: </a:t>
            </a:r>
            <a:r>
              <a:rPr b="0" sz="1400">
                <a:solidFill>
                  <a:srgbClr val="36B5FF"/>
                </a:solidFill>
                <a:latin typeface="Consolas"/>
              </a:rPr>
              <a:t>TituloDeLaSeccion.visible()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5916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Dónde está: </a:t>
            </a:r>
            <a:r>
              <a:rPr b="0" sz="1400">
                <a:solidFill>
                  <a:srgbClr val="36B5FF"/>
                </a:solidFill>
                <a:latin typeface="Consolas"/>
              </a:rPr>
              <a:t>PaginaDeLogin.CAMPO_USUARIO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83794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Capas: del feature al navegador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Gherkin en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español</a:t>
            </a:r>
          </a:p>
          <a:p>
            <a:pPr algn="l"/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login.feature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8405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49819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78419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419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Frase → Java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sin clics</a:t>
            </a:r>
          </a:p>
          <a:p>
            <a:pPr algn="l"/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Hooks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85238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0998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79598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9598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Objetivo de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negocio</a:t>
            </a:r>
          </a:p>
          <a:p>
            <a:pPr algn="l"/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IniciarSesion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417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177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777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Interaction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777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Acción técnica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reutilizable</a:t>
            </a:r>
          </a:p>
          <a:p>
            <a:pPr algn="l"/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EsperarVisible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8759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53356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981956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1956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Localizador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de la página</a:t>
            </a:r>
          </a:p>
          <a:p>
            <a:pPr algn="l"/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CAMPO_USUARIO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Cada capa solo conoce a la de su derecha. </a:t>
            </a:r>
            <a:r>
              <a:rPr b="1" sz="1600">
                <a:solidFill>
                  <a:srgbClr val="C9D6E3"/>
                </a:solidFill>
                <a:latin typeface="Century Gothic"/>
              </a:rPr>
              <a:t>Questions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 leen la pantalla para validar;</a:t>
            </a:r>
          </a:p>
          <a:p>
            <a:pPr algn="l"/>
            <a:r>
              <a:rPr b="1" sz="1600">
                <a:solidFill>
                  <a:srgbClr val="C9D6E3"/>
                </a:solidFill>
                <a:latin typeface="Century Gothic"/>
              </a:rPr>
              <a:t>models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, </a:t>
            </a:r>
            <a:r>
              <a:rPr b="1" sz="1600">
                <a:solidFill>
                  <a:srgbClr val="C9D6E3"/>
                </a:solidFill>
                <a:latin typeface="Century Gothic"/>
              </a:rPr>
              <a:t>utils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 y </a:t>
            </a:r>
            <a:r>
              <a:rPr b="1" sz="1600">
                <a:solidFill>
                  <a:srgbClr val="C9D6E3"/>
                </a:solidFill>
                <a:latin typeface="Century Gothic"/>
              </a:rPr>
              <a:t>exceptions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 apoyan a todas. </a:t>
            </a:r>
            <a:r>
              <a:rPr b="0" sz="1600">
                <a:solidFill>
                  <a:srgbClr val="36B5FF"/>
                </a:solidFill>
                <a:latin typeface="Consolas"/>
              </a:rPr>
              <a:t>models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 es una capa adicional (POO).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Código real: una Task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 · IniciarSesion (extracto)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IniciarSesion implements Task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private final Usuario usuario;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...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@Step("{0} inicia sesión con el usuario #usuario")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public &lt;T extends Actor&gt; void performAs(T actor)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actor.attemptsTo(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Enter.theValue(usuario.getNombreDeUsuario())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.into(CAMPO_USUARIO),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Enter.theValue(usuario.getClave())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.into(CAMPO_CLAVE),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Click.on(BOTON_INGRESAR)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public static IniciarSesion conCredenciales(Usuario usuario)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instrumented(IniciarSesion.class, usuario);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implements Task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polimorfismo.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Atributo </a:t>
            </a:r>
            <a:r>
              <a:rPr b="0" sz="1600">
                <a:solidFill>
                  <a:srgbClr val="36B5FF"/>
                </a:solidFill>
                <a:latin typeface="Consolas"/>
              </a:rPr>
              <a:t>private final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que llega por el </a:t>
            </a:r>
            <a:r>
              <a:rPr b="1" sz="1600">
                <a:solidFill>
                  <a:srgbClr val="FFFFFF"/>
                </a:solidFill>
                <a:latin typeface="Century Gothic"/>
              </a:rPr>
              <a:t>constructor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(omitido aquí).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@Step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texto que sale en el reporte.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Fábrica legible + </a:t>
            </a:r>
            <a:r>
              <a:rPr b="0" sz="1600">
                <a:solidFill>
                  <a:srgbClr val="36B5FF"/>
                </a:solidFill>
                <a:latin typeface="Consolas"/>
              </a:rPr>
              <a:t>instrumented(...)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EJECUCIÓN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Cómo ejecutar y ver el reporte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4332"/>
                <a:gridCol w="7060082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Quiero…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Comando o ruta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Ejecutar todo viendo el navegador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mvn clean verify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Ejecutar sin ventana (headless)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mvn clean verify -Dheadless.mode=true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Solo un tag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mvn clean verify -Dcucumber.filter.tags="@login"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Combinar tags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-Dcucumber.filter.tags="@compra and not @carrito"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Ver el reporte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target/site/serenity/index.html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88696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Detalles importantes y errores comunes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4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4332"/>
                <a:gridCol w="7060082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Síntoma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Qué revisar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Paso undefined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Frase idéntica a la anotación y glue del runner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No abre Chrome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Chrome instalado e internet la primera vez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Aviso de versión CDP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Solo es un aviso; no afecta estas pruebas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Tildes dañadas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IDE y archivos en UTF-8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No corre ningún escenario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Runner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*Runner.java</a:t>
                      </a:r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 en el paquete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runners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Elemento no encontrado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Selector en DevTools y </a:t>
                      </a:r>
                      <a:r>
                        <a:rPr b="0" sz="1400">
                          <a:solidFill>
                            <a:srgbClr val="36B5FF"/>
                          </a:solidFill>
                          <a:latin typeface="Consolas"/>
                        </a:rPr>
                        <a:t>EsperarVisible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Actividad y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Nuevo escenario sobre Sauce Demo con </a:t>
            </a:r>
            <a:r>
              <a:rPr b="1" sz="1800">
                <a:solidFill>
                  <a:srgbClr val="FFFFFF"/>
                </a:solidFill>
                <a:latin typeface="Century Gothic"/>
              </a:rPr>
              <a:t>todas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las capas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UI, Task, Interaction, Question, Exception y feature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Reporte Serenity en verde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Detalle y rúbrica en </a:t>
            </a:r>
            <a:r>
              <a:rPr b="0" sz="1800">
                <a:solidFill>
                  <a:srgbClr val="36B5FF"/>
                </a:solidFill>
                <a:latin typeface="Consolas"/>
              </a:rPr>
              <a:t>Clase2_Actividad_Screenplay_Web.docx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Viernes 25 de septiembre de 2026, 8:00 a.m.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Repo propio en GitHub o .zip sin target/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+ captura del reporte en verde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Retro: Viernes 25 de septiembre de 2026, 8:00 – 9:00 a.m.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Rúbrica de 10.0 puntos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reto vale 0.5 de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2 · Screenplay con Serenity BDD y Cucumber (Web)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Semillero QA 2026 — Equipo Transversal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