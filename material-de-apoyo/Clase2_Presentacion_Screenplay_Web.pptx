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4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36B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1737360"/>
            <a:ext cx="1243584" cy="329184"/>
          </a:xfrm>
          <a:prstGeom prst="roundRect">
            <a:avLst>
              <a:gd name="adj" fmla="val 50000"/>
            </a:avLst>
          </a:prstGeom>
          <a:solidFill>
            <a:srgbClr val="0072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wrap="none"/>
          <a:lstStyle/>
          <a:p>
            <a:pPr algn="ctr"/>
            <a:r>
              <a:rPr b="1" sz="1200">
                <a:solidFill>
                  <a:srgbClr val="FFFFFF"/>
                </a:solidFill>
                <a:latin typeface="Century Gothic"/>
              </a:rPr>
              <a:t>CLASE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0058400" cy="17373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b="1" sz="4000">
                <a:solidFill>
                  <a:srgbClr val="FFFFFF"/>
                </a:solidFill>
                <a:latin typeface="Century Gothic"/>
              </a:rPr>
              <a:t>Screenplay con Serenity BDD y Cucumber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977639"/>
            <a:ext cx="10058400" cy="8229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b="0" sz="2200">
                <a:solidFill>
                  <a:srgbClr val="36B5FF"/>
                </a:solidFill>
                <a:latin typeface="Century Gothic"/>
              </a:rPr>
              <a:t>Automatizamos el inicio de sesión de Sauce Demo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120640"/>
            <a:ext cx="10058400" cy="8229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b="0" sz="1600">
                <a:solidFill>
                  <a:srgbClr val="C9D6E3"/>
                </a:solidFill>
                <a:latin typeface="Century Gothic"/>
              </a:rPr>
              <a:t>Miércoles 23 de septiembre de 2026 · Diego Zapata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4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11480"/>
            <a:ext cx="1600200" cy="329184"/>
          </a:xfrm>
          <a:prstGeom prst="roundRect">
            <a:avLst>
              <a:gd name="adj" fmla="val 50000"/>
            </a:avLst>
          </a:prstGeom>
          <a:solidFill>
            <a:srgbClr val="0072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wrap="none"/>
          <a:lstStyle/>
          <a:p>
            <a:pPr algn="ctr"/>
            <a:r>
              <a:rPr b="1" sz="1200">
                <a:solidFill>
                  <a:srgbClr val="FFFFFF"/>
                </a:solidFill>
                <a:latin typeface="Century Gothic"/>
              </a:rPr>
              <a:t>FRAMEWORKS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1094415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b="1" sz="2800">
                <a:solidFill>
                  <a:srgbClr val="FFFFFF"/>
                </a:solidFill>
                <a:latin typeface="Century Gothic"/>
              </a:rPr>
              <a:t>Tres herramientas, cada una con su oficio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1094415" cy="5486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b="0" sz="1600">
                <a:solidFill>
                  <a:srgbClr val="C9D6E3"/>
                </a:solidFill>
                <a:latin typeface="Century Gothic"/>
              </a:rPr>
              <a:t>Gradle las descarga y las ejecuta con un solo comando: gradle clean test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286000"/>
            <a:ext cx="3545738" cy="3840480"/>
          </a:xfrm>
          <a:prstGeom prst="roundRect">
            <a:avLst>
              <a:gd name="adj" fmla="val 6000"/>
            </a:avLst>
          </a:prstGeom>
          <a:solidFill>
            <a:srgbClr val="0B2C59"/>
          </a:solidFill>
          <a:ln w="15875">
            <a:solidFill>
              <a:srgbClr val="5EA7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777240" y="2514600"/>
            <a:ext cx="3088538" cy="5486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b="1" sz="1800">
                <a:solidFill>
                  <a:srgbClr val="FFFFFF"/>
                </a:solidFill>
                <a:latin typeface="Century Gothic"/>
              </a:rPr>
              <a:t>Selenium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017520"/>
            <a:ext cx="3088538" cy="29260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b="0" sz="1400">
                <a:solidFill>
                  <a:srgbClr val="C9D6E3"/>
                </a:solidFill>
                <a:latin typeface="Century Gothic"/>
              </a:rPr>
              <a:t>Mueve el navegador: abre la página, escribe, da clic y lee textos.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22978" y="2286000"/>
            <a:ext cx="3545738" cy="3840480"/>
          </a:xfrm>
          <a:prstGeom prst="roundRect">
            <a:avLst>
              <a:gd name="adj" fmla="val 6000"/>
            </a:avLst>
          </a:prstGeom>
          <a:solidFill>
            <a:srgbClr val="08264F"/>
          </a:solidFill>
          <a:ln w="15875">
            <a:solidFill>
              <a:srgbClr val="5EA7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4551578" y="2514600"/>
            <a:ext cx="3088538" cy="5486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b="1" sz="1800">
                <a:solidFill>
                  <a:srgbClr val="FFFFFF"/>
                </a:solidFill>
                <a:latin typeface="Century Gothic"/>
              </a:rPr>
              <a:t>Serenity BDD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51578" y="3017520"/>
            <a:ext cx="3088538" cy="29260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b="0" sz="1400">
                <a:solidFill>
                  <a:srgbClr val="C9D6E3"/>
                </a:solidFill>
                <a:latin typeface="Century Gothic"/>
              </a:rPr>
              <a:t>Trabaja encima de Selenium. Organiza el código con Screenplay, espera los elementos y arma el reporte.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97316" y="2286000"/>
            <a:ext cx="3545738" cy="3840480"/>
          </a:xfrm>
          <a:prstGeom prst="roundRect">
            <a:avLst>
              <a:gd name="adj" fmla="val 6000"/>
            </a:avLst>
          </a:prstGeom>
          <a:solidFill>
            <a:srgbClr val="0B2C59"/>
          </a:solidFill>
          <a:ln w="15875">
            <a:solidFill>
              <a:srgbClr val="5EA7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8325916" y="2514600"/>
            <a:ext cx="3088538" cy="5486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b="1" sz="1800">
                <a:solidFill>
                  <a:srgbClr val="FFFFFF"/>
                </a:solidFill>
                <a:latin typeface="Century Gothic"/>
              </a:rPr>
              <a:t>Cucumber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5916" y="3017520"/>
            <a:ext cx="3088538" cy="29260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b="0" sz="1400">
                <a:solidFill>
                  <a:srgbClr val="C9D6E3"/>
                </a:solidFill>
                <a:latin typeface="Century Gothic"/>
              </a:rPr>
              <a:t>Lee los escenarios escritos en español y llama al código Java de cada frase.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b="0" sz="1200">
                <a:solidFill>
                  <a:srgbClr val="C9D6E3"/>
                </a:solidFill>
                <a:latin typeface="Century Gothic"/>
              </a:rPr>
              <a:t>Semillero QA 2026 · Clase 2 · Screenplay Web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b="0" sz="1200">
                <a:solidFill>
                  <a:srgbClr val="C9D6E3"/>
                </a:solidFill>
                <a:latin typeface="Century Gothic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4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11480"/>
            <a:ext cx="768096" cy="329184"/>
          </a:xfrm>
          <a:prstGeom prst="roundRect">
            <a:avLst>
              <a:gd name="adj" fmla="val 50000"/>
            </a:avLst>
          </a:prstGeom>
          <a:solidFill>
            <a:srgbClr val="0072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wrap="none"/>
          <a:lstStyle/>
          <a:p>
            <a:pPr algn="ctr"/>
            <a:r>
              <a:rPr b="1" sz="1200">
                <a:solidFill>
                  <a:srgbClr val="FFFFFF"/>
                </a:solidFill>
                <a:latin typeface="Century Gothic"/>
              </a:rPr>
              <a:t>BDD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1094415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b="1" sz="2800">
                <a:solidFill>
                  <a:srgbClr val="FFFFFF"/>
                </a:solidFill>
                <a:latin typeface="Century Gothic"/>
              </a:rPr>
              <a:t>BDD: la prueba escrita en español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1094415" cy="5486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b="0" sz="1600">
                <a:solidFill>
                  <a:srgbClr val="C9D6E3"/>
                </a:solidFill>
                <a:latin typeface="Century Gothic"/>
              </a:rPr>
              <a:t>Así se lee un escenario de login.feature. Lo que va entre comillas son datos.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286000"/>
            <a:ext cx="2602153" cy="3840480"/>
          </a:xfrm>
          <a:prstGeom prst="roundRect">
            <a:avLst>
              <a:gd name="adj" fmla="val 6000"/>
            </a:avLst>
          </a:prstGeom>
          <a:solidFill>
            <a:srgbClr val="0B2C59"/>
          </a:solidFill>
          <a:ln w="15875">
            <a:solidFill>
              <a:srgbClr val="5EA7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777240" y="2514600"/>
            <a:ext cx="2144953" cy="5486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b="1" sz="1800">
                <a:solidFill>
                  <a:srgbClr val="FFFFFF"/>
                </a:solidFill>
                <a:latin typeface="Century Gothic"/>
              </a:rPr>
              <a:t>Dado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017520"/>
            <a:ext cx="2144953" cy="29260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b="0" sz="1400">
                <a:solidFill>
                  <a:srgbClr val="C9D6E3"/>
                </a:solidFill>
                <a:latin typeface="Century Gothic"/>
              </a:rPr>
              <a:t>que "Ana" abre la página de Sauce Demo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79393" y="2286000"/>
            <a:ext cx="2602153" cy="3840480"/>
          </a:xfrm>
          <a:prstGeom prst="roundRect">
            <a:avLst>
              <a:gd name="adj" fmla="val 6000"/>
            </a:avLst>
          </a:prstGeom>
          <a:solidFill>
            <a:srgbClr val="08264F"/>
          </a:solidFill>
          <a:ln w="15875">
            <a:solidFill>
              <a:srgbClr val="5EA7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3607993" y="2514600"/>
            <a:ext cx="2144953" cy="5486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b="1" sz="1800">
                <a:solidFill>
                  <a:srgbClr val="FFFFFF"/>
                </a:solidFill>
                <a:latin typeface="Century Gothic"/>
              </a:rPr>
              <a:t>Cuando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07993" y="3017520"/>
            <a:ext cx="2144953" cy="29260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b="0" sz="1400">
                <a:solidFill>
                  <a:srgbClr val="C9D6E3"/>
                </a:solidFill>
                <a:latin typeface="Century Gothic"/>
              </a:rPr>
              <a:t>inicia sesión con el usuario "standard_user" y la clave "secret_sauce"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0146" y="2286000"/>
            <a:ext cx="2602153" cy="3840480"/>
          </a:xfrm>
          <a:prstGeom prst="roundRect">
            <a:avLst>
              <a:gd name="adj" fmla="val 6000"/>
            </a:avLst>
          </a:prstGeom>
          <a:solidFill>
            <a:srgbClr val="0B2C59"/>
          </a:solidFill>
          <a:ln w="15875">
            <a:solidFill>
              <a:srgbClr val="5EA7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438746" y="2514600"/>
            <a:ext cx="2144953" cy="5486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b="1" sz="1800">
                <a:solidFill>
                  <a:srgbClr val="FFFFFF"/>
                </a:solidFill>
                <a:latin typeface="Century Gothic"/>
              </a:rPr>
              <a:t>Entonces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38746" y="3017520"/>
            <a:ext cx="2144953" cy="29260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b="0" sz="1400">
                <a:solidFill>
                  <a:srgbClr val="C9D6E3"/>
                </a:solidFill>
                <a:latin typeface="Century Gothic"/>
              </a:rPr>
              <a:t>debería ver el título "Products"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40899" y="2286000"/>
            <a:ext cx="2602153" cy="3840480"/>
          </a:xfrm>
          <a:prstGeom prst="roundRect">
            <a:avLst>
              <a:gd name="adj" fmla="val 6000"/>
            </a:avLst>
          </a:prstGeom>
          <a:solidFill>
            <a:srgbClr val="08264F"/>
          </a:solidFill>
          <a:ln w="15875">
            <a:solidFill>
              <a:srgbClr val="5EA7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269499" y="2514600"/>
            <a:ext cx="2144953" cy="5486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b="1" sz="1800">
                <a:solidFill>
                  <a:srgbClr val="FFFFFF"/>
                </a:solidFill>
                <a:latin typeface="Century Gothic"/>
              </a:rPr>
              <a:t>@exitoso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69499" y="3017520"/>
            <a:ext cx="2144953" cy="29260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b="0" sz="1400">
                <a:solidFill>
                  <a:srgbClr val="C9D6E3"/>
                </a:solidFill>
                <a:latin typeface="Century Gothic"/>
              </a:rPr>
              <a:t>Es un tag. Sirve para ejecutar solo este escenario.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b="0" sz="1200">
                <a:solidFill>
                  <a:srgbClr val="C9D6E3"/>
                </a:solidFill>
                <a:latin typeface="Century Gothic"/>
              </a:rPr>
              <a:t>Semillero QA 2026 · Clase 2 · Screenplay Web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b="0" sz="1200">
                <a:solidFill>
                  <a:srgbClr val="C9D6E3"/>
                </a:solidFill>
                <a:latin typeface="Century Gothic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4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11480"/>
            <a:ext cx="1600200" cy="329184"/>
          </a:xfrm>
          <a:prstGeom prst="roundRect">
            <a:avLst>
              <a:gd name="adj" fmla="val 50000"/>
            </a:avLst>
          </a:prstGeom>
          <a:solidFill>
            <a:srgbClr val="0072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wrap="none"/>
          <a:lstStyle/>
          <a:p>
            <a:pPr algn="ctr"/>
            <a:r>
              <a:rPr b="1" sz="1200">
                <a:solidFill>
                  <a:srgbClr val="FFFFFF"/>
                </a:solidFill>
                <a:latin typeface="Century Gothic"/>
              </a:rPr>
              <a:t>SCREENPLAY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1094415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b="1" sz="2800">
                <a:solidFill>
                  <a:srgbClr val="FFFFFF"/>
                </a:solidFill>
                <a:latin typeface="Century Gothic"/>
              </a:rPr>
              <a:t>Screenplay es una obra de teatro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737360"/>
            <a:ext cx="3545738" cy="2080260"/>
          </a:xfrm>
          <a:prstGeom prst="roundRect">
            <a:avLst>
              <a:gd name="adj" fmla="val 6000"/>
            </a:avLst>
          </a:prstGeom>
          <a:solidFill>
            <a:srgbClr val="0B2C59"/>
          </a:solidFill>
          <a:ln w="15875">
            <a:solidFill>
              <a:srgbClr val="5EA7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777240" y="1965960"/>
            <a:ext cx="3088538" cy="5486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b="1" sz="1800">
                <a:solidFill>
                  <a:srgbClr val="FFFFFF"/>
                </a:solidFill>
                <a:latin typeface="Century Gothic"/>
              </a:rPr>
              <a:t>El guion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468880"/>
            <a:ext cx="3088538" cy="11658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b="0" sz="1400">
                <a:solidFill>
                  <a:srgbClr val="C9D6E3"/>
                </a:solidFill>
                <a:latin typeface="Century Gothic"/>
              </a:rPr>
              <a:t>El feature. Cualquiera del equipo lo puede leer.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22978" y="1737360"/>
            <a:ext cx="3545738" cy="2080260"/>
          </a:xfrm>
          <a:prstGeom prst="roundRect">
            <a:avLst>
              <a:gd name="adj" fmla="val 6000"/>
            </a:avLst>
          </a:prstGeom>
          <a:solidFill>
            <a:srgbClr val="08264F"/>
          </a:solidFill>
          <a:ln w="15875">
            <a:solidFill>
              <a:srgbClr val="5EA7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4551578" y="1965960"/>
            <a:ext cx="3088538" cy="5486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b="1" sz="1800">
                <a:solidFill>
                  <a:srgbClr val="FFFFFF"/>
                </a:solidFill>
                <a:latin typeface="Century Gothic"/>
              </a:rPr>
              <a:t>La actriz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51578" y="2468880"/>
            <a:ext cx="3088538" cy="11658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b="0" sz="1400">
                <a:solidFill>
                  <a:srgbClr val="C9D6E3"/>
                </a:solidFill>
                <a:latin typeface="Century Gothic"/>
              </a:rPr>
              <a:t>Ana. Usa la página como lo haría una persona.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97316" y="1737360"/>
            <a:ext cx="3545738" cy="2080260"/>
          </a:xfrm>
          <a:prstGeom prst="roundRect">
            <a:avLst>
              <a:gd name="adj" fmla="val 6000"/>
            </a:avLst>
          </a:prstGeom>
          <a:solidFill>
            <a:srgbClr val="0B2C59"/>
          </a:solidFill>
          <a:ln w="15875">
            <a:solidFill>
              <a:srgbClr val="5EA7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325916" y="1965960"/>
            <a:ext cx="3088538" cy="5486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b="1" sz="1800">
                <a:solidFill>
                  <a:srgbClr val="FFFFFF"/>
                </a:solidFill>
                <a:latin typeface="Century Gothic"/>
              </a:rPr>
              <a:t>El escenario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5916" y="2468880"/>
            <a:ext cx="3088538" cy="11658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b="0" sz="1400">
                <a:solidFill>
                  <a:srgbClr val="C9D6E3"/>
                </a:solidFill>
                <a:latin typeface="Century Gothic"/>
              </a:rPr>
              <a:t>Hooks lo prepara y le da a Ana la habilidad de usar el navegador.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046220"/>
            <a:ext cx="3545738" cy="2080260"/>
          </a:xfrm>
          <a:prstGeom prst="roundRect">
            <a:avLst>
              <a:gd name="adj" fmla="val 6000"/>
            </a:avLst>
          </a:prstGeom>
          <a:solidFill>
            <a:srgbClr val="08264F"/>
          </a:solidFill>
          <a:ln w="15875">
            <a:solidFill>
              <a:srgbClr val="5EA7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777240" y="4274820"/>
            <a:ext cx="3088538" cy="5486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b="1" sz="1800">
                <a:solidFill>
                  <a:srgbClr val="FFFFFF"/>
                </a:solidFill>
                <a:latin typeface="Century Gothic"/>
              </a:rPr>
              <a:t>Lo que hace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777740"/>
            <a:ext cx="3088538" cy="11658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b="0" sz="1400">
                <a:solidFill>
                  <a:srgbClr val="C9D6E3"/>
                </a:solidFill>
                <a:latin typeface="Century Gothic"/>
              </a:rPr>
              <a:t>Tareas, como IniciarSesion, hechas de movimientos pequeños.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22978" y="4046220"/>
            <a:ext cx="3545738" cy="2080260"/>
          </a:xfrm>
          <a:prstGeom prst="roundRect">
            <a:avLst>
              <a:gd name="adj" fmla="val 6000"/>
            </a:avLst>
          </a:prstGeom>
          <a:solidFill>
            <a:srgbClr val="0B2C59"/>
          </a:solidFill>
          <a:ln w="15875">
            <a:solidFill>
              <a:srgbClr val="5EA7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4551578" y="4274820"/>
            <a:ext cx="3088538" cy="5486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b="1" sz="1800">
                <a:solidFill>
                  <a:srgbClr val="FFFFFF"/>
                </a:solidFill>
                <a:latin typeface="Century Gothic"/>
              </a:rPr>
              <a:t>Lo que mira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51578" y="4777740"/>
            <a:ext cx="3088538" cy="11658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b="0" sz="1400">
                <a:solidFill>
                  <a:srgbClr val="C9D6E3"/>
                </a:solidFill>
                <a:latin typeface="Century Gothic"/>
              </a:rPr>
              <a:t>Preguntas, como TituloDeLaPagina o MensajeDeError.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97316" y="4046220"/>
            <a:ext cx="3545738" cy="2080260"/>
          </a:xfrm>
          <a:prstGeom prst="roundRect">
            <a:avLst>
              <a:gd name="adj" fmla="val 6000"/>
            </a:avLst>
          </a:prstGeom>
          <a:solidFill>
            <a:srgbClr val="08264F"/>
          </a:solidFill>
          <a:ln w="15875">
            <a:solidFill>
              <a:srgbClr val="5EA7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325916" y="4274820"/>
            <a:ext cx="3088538" cy="5486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b="1" sz="1800">
                <a:solidFill>
                  <a:srgbClr val="FFFFFF"/>
                </a:solidFill>
                <a:latin typeface="Century Gothic"/>
              </a:rPr>
              <a:t>El mapa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5916" y="4777740"/>
            <a:ext cx="3088538" cy="11658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b="0" sz="1400">
                <a:solidFill>
                  <a:srgbClr val="C9D6E3"/>
                </a:solidFill>
                <a:latin typeface="Century Gothic"/>
              </a:rPr>
              <a:t>PaginaLogin y PaginaProductos dicen dónde está cada cosa.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b="0" sz="1200">
                <a:solidFill>
                  <a:srgbClr val="C9D6E3"/>
                </a:solidFill>
                <a:latin typeface="Century Gothic"/>
              </a:rPr>
              <a:t>Semillero QA 2026 · Clase 2 · Screenplay Web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b="0" sz="1200">
                <a:solidFill>
                  <a:srgbClr val="C9D6E3"/>
                </a:solidFill>
                <a:latin typeface="Century Gothic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4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11480"/>
            <a:ext cx="1005840" cy="329184"/>
          </a:xfrm>
          <a:prstGeom prst="roundRect">
            <a:avLst>
              <a:gd name="adj" fmla="val 50000"/>
            </a:avLst>
          </a:prstGeom>
          <a:solidFill>
            <a:srgbClr val="0072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wrap="none"/>
          <a:lstStyle/>
          <a:p>
            <a:pPr algn="ctr"/>
            <a:r>
              <a:rPr b="1" sz="1200">
                <a:solidFill>
                  <a:srgbClr val="FFFFFF"/>
                </a:solidFill>
                <a:latin typeface="Century Gothic"/>
              </a:rPr>
              <a:t>CAPAS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1094415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b="1" sz="2800">
                <a:solidFill>
                  <a:srgbClr val="FFFFFF"/>
                </a:solidFill>
                <a:latin typeface="Century Gothic"/>
              </a:rPr>
              <a:t>Las capas del proyecto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737360"/>
          <a:ext cx="11094414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40771"/>
                <a:gridCol w="4659654"/>
                <a:gridCol w="3993989"/>
              </a:tblGrid>
              <a:tr h="502920"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  <a:latin typeface="Century Gothic"/>
                        </a:rPr>
                        <a:t>Capa</a:t>
                      </a:r>
                    </a:p>
                  </a:txBody>
                  <a:tcPr>
                    <a:solidFill>
                      <a:srgbClr val="0072B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  <a:latin typeface="Century Gothic"/>
                        </a:rPr>
                        <a:t>Qué guarda</a:t>
                      </a:r>
                    </a:p>
                  </a:txBody>
                  <a:tcPr>
                    <a:solidFill>
                      <a:srgbClr val="0072B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  <a:latin typeface="Century Gothic"/>
                        </a:rPr>
                        <a:t>En el proyecto</a:t>
                      </a:r>
                    </a:p>
                  </a:txBody>
                  <a:tcPr>
                    <a:solidFill>
                      <a:srgbClr val="0072BC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  <a:latin typeface="Century Gothic"/>
                        </a:rPr>
                        <a:t>runners</a:t>
                      </a:r>
                    </a:p>
                  </a:txBody>
                  <a:tcPr>
                    <a:solidFill>
                      <a:srgbClr val="0B2C5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400">
                          <a:solidFill>
                            <a:srgbClr val="FFFFFF"/>
                          </a:solidFill>
                          <a:latin typeface="Century Gothic"/>
                        </a:rPr>
                        <a:t>El botón de arranque</a:t>
                      </a:r>
                    </a:p>
                  </a:txBody>
                  <a:tcPr>
                    <a:solidFill>
                      <a:srgbClr val="0B2C5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400">
                          <a:solidFill>
                            <a:srgbClr val="FFFFFF"/>
                          </a:solidFill>
                          <a:latin typeface="Century Gothic"/>
                        </a:rPr>
                        <a:t>SauceDemoRunner</a:t>
                      </a:r>
                    </a:p>
                  </a:txBody>
                  <a:tcPr>
                    <a:solidFill>
                      <a:srgbClr val="0B2C59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  <a:latin typeface="Century Gothic"/>
                        </a:rPr>
                        <a:t>stepsdefinitions</a:t>
                      </a:r>
                    </a:p>
                  </a:txBody>
                  <a:tcPr>
                    <a:solidFill>
                      <a:srgbClr val="08264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400">
                          <a:solidFill>
                            <a:srgbClr val="FFFFFF"/>
                          </a:solidFill>
                          <a:latin typeface="Century Gothic"/>
                        </a:rPr>
                        <a:t>Las frases del feature conectadas a Java</a:t>
                      </a:r>
                    </a:p>
                  </a:txBody>
                  <a:tcPr>
                    <a:solidFill>
                      <a:srgbClr val="08264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400">
                          <a:solidFill>
                            <a:srgbClr val="FFFFFF"/>
                          </a:solidFill>
                          <a:latin typeface="Century Gothic"/>
                        </a:rPr>
                        <a:t>LoginSteps, Hooks</a:t>
                      </a:r>
                    </a:p>
                  </a:txBody>
                  <a:tcPr>
                    <a:solidFill>
                      <a:srgbClr val="08264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  <a:latin typeface="Century Gothic"/>
                        </a:rPr>
                        <a:t>tasks</a:t>
                      </a:r>
                    </a:p>
                  </a:txBody>
                  <a:tcPr>
                    <a:solidFill>
                      <a:srgbClr val="0B2C5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400">
                          <a:solidFill>
                            <a:srgbClr val="FFFFFF"/>
                          </a:solidFill>
                          <a:latin typeface="Century Gothic"/>
                        </a:rPr>
                        <a:t>Lo que el usuario quiere lograr</a:t>
                      </a:r>
                    </a:p>
                  </a:txBody>
                  <a:tcPr>
                    <a:solidFill>
                      <a:srgbClr val="0B2C5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400">
                          <a:solidFill>
                            <a:srgbClr val="FFFFFF"/>
                          </a:solidFill>
                          <a:latin typeface="Century Gothic"/>
                        </a:rPr>
                        <a:t>IniciarSesion</a:t>
                      </a:r>
                    </a:p>
                  </a:txBody>
                  <a:tcPr>
                    <a:solidFill>
                      <a:srgbClr val="0B2C59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  <a:latin typeface="Century Gothic"/>
                        </a:rPr>
                        <a:t>interactions</a:t>
                      </a:r>
                    </a:p>
                  </a:txBody>
                  <a:tcPr>
                    <a:solidFill>
                      <a:srgbClr val="08264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400">
                          <a:solidFill>
                            <a:srgbClr val="FFFFFF"/>
                          </a:solidFill>
                          <a:latin typeface="Century Gothic"/>
                        </a:rPr>
                        <a:t>Acciones pequeñas hechas por nosotros</a:t>
                      </a:r>
                    </a:p>
                  </a:txBody>
                  <a:tcPr>
                    <a:solidFill>
                      <a:srgbClr val="08264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400">
                          <a:solidFill>
                            <a:srgbClr val="FFFFFF"/>
                          </a:solidFill>
                          <a:latin typeface="Century Gothic"/>
                        </a:rPr>
                        <a:t>AbrirLaPagina</a:t>
                      </a:r>
                    </a:p>
                  </a:txBody>
                  <a:tcPr>
                    <a:solidFill>
                      <a:srgbClr val="08264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  <a:latin typeface="Century Gothic"/>
                        </a:rPr>
                        <a:t>questions</a:t>
                      </a:r>
                    </a:p>
                  </a:txBody>
                  <a:tcPr>
                    <a:solidFill>
                      <a:srgbClr val="0B2C5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400">
                          <a:solidFill>
                            <a:srgbClr val="FFFFFF"/>
                          </a:solidFill>
                          <a:latin typeface="Century Gothic"/>
                        </a:rPr>
                        <a:t>Lo que el actor mira para validar</a:t>
                      </a:r>
                    </a:p>
                  </a:txBody>
                  <a:tcPr>
                    <a:solidFill>
                      <a:srgbClr val="0B2C5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400">
                          <a:solidFill>
                            <a:srgbClr val="FFFFFF"/>
                          </a:solidFill>
                          <a:latin typeface="Century Gothic"/>
                        </a:rPr>
                        <a:t>TituloDeLaPagina, MensajeDeError</a:t>
                      </a:r>
                    </a:p>
                  </a:txBody>
                  <a:tcPr>
                    <a:solidFill>
                      <a:srgbClr val="0B2C59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  <a:latin typeface="Century Gothic"/>
                        </a:rPr>
                        <a:t>userinterfaces</a:t>
                      </a:r>
                    </a:p>
                  </a:txBody>
                  <a:tcPr>
                    <a:solidFill>
                      <a:srgbClr val="08264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400">
                          <a:solidFill>
                            <a:srgbClr val="FFFFFF"/>
                          </a:solidFill>
                          <a:latin typeface="Century Gothic"/>
                        </a:rPr>
                        <a:t>Dónde está cada elemento de la página</a:t>
                      </a:r>
                    </a:p>
                  </a:txBody>
                  <a:tcPr>
                    <a:solidFill>
                      <a:srgbClr val="08264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400">
                          <a:solidFill>
                            <a:srgbClr val="FFFFFF"/>
                          </a:solidFill>
                          <a:latin typeface="Century Gothic"/>
                        </a:rPr>
                        <a:t>PaginaLogin, PaginaProductos</a:t>
                      </a:r>
                    </a:p>
                  </a:txBody>
                  <a:tcPr>
                    <a:solidFill>
                      <a:srgbClr val="08264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  <a:latin typeface="Century Gothic"/>
                        </a:rPr>
                        <a:t>exceptions</a:t>
                      </a:r>
                    </a:p>
                  </a:txBody>
                  <a:tcPr>
                    <a:solidFill>
                      <a:srgbClr val="0B2C5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400">
                          <a:solidFill>
                            <a:srgbClr val="FFFFFF"/>
                          </a:solidFill>
                          <a:latin typeface="Century Gothic"/>
                        </a:rPr>
                        <a:t>El error propio cuando algo no coincide</a:t>
                      </a:r>
                    </a:p>
                  </a:txBody>
                  <a:tcPr>
                    <a:solidFill>
                      <a:srgbClr val="0B2C5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400">
                          <a:solidFill>
                            <a:srgbClr val="FFFFFF"/>
                          </a:solidFill>
                          <a:latin typeface="Century Gothic"/>
                        </a:rPr>
                        <a:t>ErrorDeValidacion</a:t>
                      </a:r>
                    </a:p>
                  </a:txBody>
                  <a:tcPr>
                    <a:solidFill>
                      <a:srgbClr val="0B2C59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  <a:latin typeface="Century Gothic"/>
                        </a:rPr>
                        <a:t>utils</a:t>
                      </a:r>
                    </a:p>
                  </a:txBody>
                  <a:tcPr>
                    <a:solidFill>
                      <a:srgbClr val="08264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400">
                          <a:solidFill>
                            <a:srgbClr val="FFFFFF"/>
                          </a:solidFill>
                          <a:latin typeface="Century Gothic"/>
                        </a:rPr>
                        <a:t>Datos fijos: URL y mensajes</a:t>
                      </a:r>
                    </a:p>
                  </a:txBody>
                  <a:tcPr>
                    <a:solidFill>
                      <a:srgbClr val="08264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400">
                          <a:solidFill>
                            <a:srgbClr val="FFFFFF"/>
                          </a:solidFill>
                          <a:latin typeface="Century Gothic"/>
                        </a:rPr>
                        <a:t>Constantes</a:t>
                      </a:r>
                    </a:p>
                  </a:txBody>
                  <a:tcPr>
                    <a:solidFill>
                      <a:srgbClr val="08264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b="0" sz="1200">
                <a:solidFill>
                  <a:srgbClr val="C9D6E3"/>
                </a:solidFill>
                <a:latin typeface="Century Gothic"/>
              </a:rPr>
              <a:t>Semillero QA 2026 · Clase 2 · Screenplay Web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b="0" sz="1200">
                <a:solidFill>
                  <a:srgbClr val="C9D6E3"/>
                </a:solidFill>
                <a:latin typeface="Century Gothic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4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11480"/>
            <a:ext cx="1481328" cy="329184"/>
          </a:xfrm>
          <a:prstGeom prst="roundRect">
            <a:avLst>
              <a:gd name="adj" fmla="val 50000"/>
            </a:avLst>
          </a:prstGeom>
          <a:solidFill>
            <a:srgbClr val="0072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wrap="none"/>
          <a:lstStyle/>
          <a:p>
            <a:pPr algn="ctr"/>
            <a:r>
              <a:rPr b="1" sz="1200">
                <a:solidFill>
                  <a:srgbClr val="FFFFFF"/>
                </a:solidFill>
                <a:latin typeface="Century Gothic"/>
              </a:rPr>
              <a:t>RECORRIDO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1094415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b="1" sz="2800">
                <a:solidFill>
                  <a:srgbClr val="FFFFFF"/>
                </a:solidFill>
                <a:latin typeface="Century Gothic"/>
              </a:rPr>
              <a:t>Recorrido de un paso hasta Chrome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2057400"/>
            <a:ext cx="1889699" cy="2651760"/>
          </a:xfrm>
          <a:prstGeom prst="roundRect">
            <a:avLst>
              <a:gd name="adj" fmla="val 6000"/>
            </a:avLst>
          </a:prstGeom>
          <a:solidFill>
            <a:srgbClr val="0B2C59"/>
          </a:solidFill>
          <a:ln w="15875">
            <a:solidFill>
              <a:srgbClr val="5EA7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432499" cy="5486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b="1" sz="1800">
                <a:solidFill>
                  <a:srgbClr val="FFFFFF"/>
                </a:solidFill>
                <a:latin typeface="Century Gothic"/>
              </a:rPr>
              <a:t>login.feature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788920"/>
            <a:ext cx="1432499" cy="17373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b="0" sz="1400">
                <a:solidFill>
                  <a:srgbClr val="C9D6E3"/>
                </a:solidFill>
                <a:latin typeface="Century Gothic"/>
              </a:rPr>
              <a:t>Cuando inicia sesión con el usuario y la clave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484059" y="3383280"/>
            <a:ext cx="320040" cy="0"/>
          </a:xfrm>
          <a:prstGeom prst="line">
            <a:avLst/>
          </a:prstGeom>
          <a:ln w="31750">
            <a:solidFill>
              <a:srgbClr val="36B5F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2849819" y="2057400"/>
            <a:ext cx="1889699" cy="2651760"/>
          </a:xfrm>
          <a:prstGeom prst="roundRect">
            <a:avLst>
              <a:gd name="adj" fmla="val 6000"/>
            </a:avLst>
          </a:prstGeom>
          <a:solidFill>
            <a:srgbClr val="08264F"/>
          </a:solidFill>
          <a:ln w="15875">
            <a:solidFill>
              <a:srgbClr val="5EA7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3078419" y="2286000"/>
            <a:ext cx="1432499" cy="5486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b="1" sz="1800">
                <a:solidFill>
                  <a:srgbClr val="FFFFFF"/>
                </a:solidFill>
                <a:latin typeface="Century Gothic"/>
              </a:rPr>
              <a:t>LoginSteps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78419" y="2788920"/>
            <a:ext cx="1432499" cy="17373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b="0" sz="1400">
                <a:solidFill>
                  <a:srgbClr val="C9D6E3"/>
                </a:solidFill>
                <a:latin typeface="Century Gothic"/>
              </a:rPr>
              <a:t>Busca la misma frase y le pide la tarea a Ana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785238" y="3383280"/>
            <a:ext cx="320040" cy="0"/>
          </a:xfrm>
          <a:prstGeom prst="line">
            <a:avLst/>
          </a:prstGeom>
          <a:ln w="31750">
            <a:solidFill>
              <a:srgbClr val="36B5F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5150998" y="2057400"/>
            <a:ext cx="1889699" cy="2651760"/>
          </a:xfrm>
          <a:prstGeom prst="roundRect">
            <a:avLst>
              <a:gd name="adj" fmla="val 6000"/>
            </a:avLst>
          </a:prstGeom>
          <a:solidFill>
            <a:srgbClr val="0B2C59"/>
          </a:solidFill>
          <a:ln w="15875">
            <a:solidFill>
              <a:srgbClr val="5EA7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5379598" y="2286000"/>
            <a:ext cx="1432499" cy="5486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b="1" sz="1800">
                <a:solidFill>
                  <a:srgbClr val="FFFFFF"/>
                </a:solidFill>
                <a:latin typeface="Century Gothic"/>
              </a:rPr>
              <a:t>IniciarSesion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79598" y="2788920"/>
            <a:ext cx="1432499" cy="17373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b="0" sz="1400">
                <a:solidFill>
                  <a:srgbClr val="C9D6E3"/>
                </a:solidFill>
                <a:latin typeface="Century Gothic"/>
              </a:rPr>
              <a:t>Escribe usuario, escribe clave, da clic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086417" y="3383280"/>
            <a:ext cx="320040" cy="0"/>
          </a:xfrm>
          <a:prstGeom prst="line">
            <a:avLst/>
          </a:prstGeom>
          <a:ln w="31750">
            <a:solidFill>
              <a:srgbClr val="36B5F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452177" y="2057400"/>
            <a:ext cx="1889699" cy="2651760"/>
          </a:xfrm>
          <a:prstGeom prst="roundRect">
            <a:avLst>
              <a:gd name="adj" fmla="val 6000"/>
            </a:avLst>
          </a:prstGeom>
          <a:solidFill>
            <a:srgbClr val="08264F"/>
          </a:solidFill>
          <a:ln w="15875">
            <a:solidFill>
              <a:srgbClr val="5EA7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7680777" y="2286000"/>
            <a:ext cx="1432499" cy="5486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b="1" sz="1800">
                <a:solidFill>
                  <a:srgbClr val="FFFFFF"/>
                </a:solidFill>
                <a:latin typeface="Century Gothic"/>
              </a:rPr>
              <a:t>PaginaLogin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80777" y="2788920"/>
            <a:ext cx="1432499" cy="17373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b="0" sz="1400">
                <a:solidFill>
                  <a:srgbClr val="C9D6E3"/>
                </a:solidFill>
                <a:latin typeface="Century Gothic"/>
              </a:rPr>
              <a:t>Dice dónde está cada campo: id="user-name"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9387596" y="3383280"/>
            <a:ext cx="320040" cy="0"/>
          </a:xfrm>
          <a:prstGeom prst="line">
            <a:avLst/>
          </a:prstGeom>
          <a:ln w="31750">
            <a:solidFill>
              <a:srgbClr val="36B5F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9753356" y="2057400"/>
            <a:ext cx="1889699" cy="2651760"/>
          </a:xfrm>
          <a:prstGeom prst="roundRect">
            <a:avLst>
              <a:gd name="adj" fmla="val 6000"/>
            </a:avLst>
          </a:prstGeom>
          <a:solidFill>
            <a:srgbClr val="0B2C59"/>
          </a:solidFill>
          <a:ln w="15875">
            <a:solidFill>
              <a:srgbClr val="5EA7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9981956" y="2286000"/>
            <a:ext cx="1432499" cy="5486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b="1" sz="1800">
                <a:solidFill>
                  <a:srgbClr val="FFFFFF"/>
                </a:solidFill>
                <a:latin typeface="Century Gothic"/>
              </a:rPr>
              <a:t>Chrome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981956" y="2788920"/>
            <a:ext cx="1432499" cy="17373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b="0" sz="1400">
                <a:solidFill>
                  <a:srgbClr val="C9D6E3"/>
                </a:solidFill>
                <a:latin typeface="Century Gothic"/>
              </a:rPr>
              <a:t>Selenium le da la orden y Chrome escribe y da clic de verdad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5029200"/>
            <a:ext cx="11094415" cy="10972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b="0" sz="1600">
                <a:solidFill>
                  <a:srgbClr val="C9D6E3"/>
                </a:solidFill>
                <a:latin typeface="Century Gothic"/>
              </a:rPr>
              <a:t>Los steps no tienen clics ni localizadores. Los localizadores solo viven en userinterfaces.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b="0" sz="1200">
                <a:solidFill>
                  <a:srgbClr val="C9D6E3"/>
                </a:solidFill>
                <a:latin typeface="Century Gothic"/>
              </a:rPr>
              <a:t>Semillero QA 2026 · Clase 2 · Screenplay Web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b="0" sz="1200">
                <a:solidFill>
                  <a:srgbClr val="C9D6E3"/>
                </a:solidFill>
                <a:latin typeface="Century Gothic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4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11480"/>
            <a:ext cx="1005840" cy="329184"/>
          </a:xfrm>
          <a:prstGeom prst="roundRect">
            <a:avLst>
              <a:gd name="adj" fmla="val 50000"/>
            </a:avLst>
          </a:prstGeom>
          <a:solidFill>
            <a:srgbClr val="0072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wrap="none"/>
          <a:lstStyle/>
          <a:p>
            <a:pPr algn="ctr"/>
            <a:r>
              <a:rPr b="1" sz="1200">
                <a:solidFill>
                  <a:srgbClr val="FFFFFF"/>
                </a:solidFill>
                <a:latin typeface="Century Gothic"/>
              </a:rPr>
              <a:t>TASKS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1094415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b="1" sz="2800">
                <a:solidFill>
                  <a:srgbClr val="FFFFFF"/>
                </a:solidFill>
                <a:latin typeface="Century Gothic"/>
              </a:rPr>
              <a:t>Una tarea por dentro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737360"/>
            <a:ext cx="6949440" cy="4389120"/>
          </a:xfrm>
          <a:prstGeom prst="roundRect">
            <a:avLst>
              <a:gd name="adj" fmla="val 3000"/>
            </a:avLst>
          </a:prstGeom>
          <a:solidFill>
            <a:srgbClr val="0A1B33"/>
          </a:solidFill>
          <a:ln w="12700">
            <a:solidFill>
              <a:srgbClr val="5EA7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847088"/>
            <a:ext cx="27432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b="1" sz="1200">
                <a:solidFill>
                  <a:srgbClr val="36B5FF"/>
                </a:solidFill>
                <a:latin typeface="Century Gothic"/>
              </a:rPr>
              <a:t>Java (IniciarSesion.java)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194560"/>
            <a:ext cx="64922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FFFFFF"/>
                </a:solidFill>
                <a:latin typeface="Consolas"/>
              </a:rPr>
              <a:t>@Step("{0} inicia sesión con el usuario #usuario")</a:t>
            </a:r>
          </a:p>
          <a:p>
            <a:r>
              <a:rPr sz="1300">
                <a:solidFill>
                  <a:srgbClr val="FFFFFF"/>
                </a:solidFill>
                <a:latin typeface="Consolas"/>
              </a:rPr>
              <a:t>@Override</a:t>
            </a:r>
          </a:p>
          <a:p>
            <a:r>
              <a:rPr sz="1300">
                <a:solidFill>
                  <a:srgbClr val="FFFFFF"/>
                </a:solidFill>
                <a:latin typeface="Consolas"/>
              </a:rPr>
              <a:t>public &lt;T extends Actor&gt; void performAs(T actor) {</a:t>
            </a:r>
          </a:p>
          <a:p>
            <a:r>
              <a:rPr sz="1300">
                <a:solidFill>
                  <a:srgbClr val="FFFFFF"/>
                </a:solidFill>
                <a:latin typeface="Consolas"/>
              </a:rPr>
              <a:t>    actor.attemptsTo(</a:t>
            </a:r>
          </a:p>
          <a:p>
            <a:r>
              <a:rPr sz="1300">
                <a:solidFill>
                  <a:srgbClr val="FFFFFF"/>
                </a:solidFill>
                <a:latin typeface="Consolas"/>
              </a:rPr>
              <a:t>            Enter.theValue(usuario).into(PaginaLogin.CAMPO_USUARIO),</a:t>
            </a:r>
          </a:p>
          <a:p>
            <a:r>
              <a:rPr sz="1300">
                <a:solidFill>
                  <a:srgbClr val="FFFFFF"/>
                </a:solidFill>
                <a:latin typeface="Consolas"/>
              </a:rPr>
              <a:t>            Enter.theValue(clave).into(PaginaLogin.CAMPO_CLAVE),</a:t>
            </a:r>
          </a:p>
          <a:p>
            <a:r>
              <a:rPr sz="1300">
                <a:solidFill>
                  <a:srgbClr val="FFFFFF"/>
                </a:solidFill>
                <a:latin typeface="Consolas"/>
              </a:rPr>
              <a:t>            Click.on(PaginaLogin.BOTON_INGRESAR)</a:t>
            </a:r>
          </a:p>
          <a:p>
            <a:r>
              <a:rPr sz="1300">
                <a:solidFill>
                  <a:srgbClr val="FFFFFF"/>
                </a:solidFill>
                <a:latin typeface="Consolas"/>
              </a:rPr>
              <a:t>    );</a:t>
            </a:r>
          </a:p>
          <a:p>
            <a:r>
              <a:rPr sz="1300">
                <a:solidFill>
                  <a:srgbClr val="FFFFFF"/>
                </a:solidFill>
                <a:latin typeface="Consolas"/>
              </a:rPr>
              <a:t>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0" y="1737360"/>
            <a:ext cx="377921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1" sz="1600">
                <a:solidFill>
                  <a:srgbClr val="36B5FF"/>
                </a:solidFill>
                <a:latin typeface="Century Gothic"/>
              </a:rPr>
              <a:t>▸  </a:t>
            </a:r>
            <a:r>
              <a:rPr b="0" sz="1600">
                <a:solidFill>
                  <a:srgbClr val="36B5FF"/>
                </a:solidFill>
                <a:latin typeface="Consolas"/>
              </a:rPr>
              <a:t>performAs</a:t>
            </a:r>
            <a:r>
              <a:rPr b="0" sz="1600">
                <a:solidFill>
                  <a:srgbClr val="FFFFFF"/>
                </a:solidFill>
                <a:latin typeface="Century Gothic"/>
              </a:rPr>
              <a:t> es lo que hace el actor.</a:t>
            </a:r>
          </a:p>
          <a:p>
            <a:pPr>
              <a:spcAft>
                <a:spcPts val="1000"/>
              </a:spcAft>
            </a:pPr>
            <a:r>
              <a:rPr b="1" sz="1600">
                <a:solidFill>
                  <a:srgbClr val="36B5FF"/>
                </a:solidFill>
                <a:latin typeface="Century Gothic"/>
              </a:rPr>
              <a:t>▸  </a:t>
            </a:r>
            <a:r>
              <a:rPr b="0" sz="1600">
                <a:solidFill>
                  <a:srgbClr val="36B5FF"/>
                </a:solidFill>
                <a:latin typeface="Consolas"/>
              </a:rPr>
              <a:t>Enter</a:t>
            </a:r>
            <a:r>
              <a:rPr b="0" sz="1600">
                <a:solidFill>
                  <a:srgbClr val="FFFFFF"/>
                </a:solidFill>
                <a:latin typeface="Century Gothic"/>
              </a:rPr>
              <a:t> escribe un valor en un campo.</a:t>
            </a:r>
          </a:p>
          <a:p>
            <a:pPr>
              <a:spcAft>
                <a:spcPts val="1000"/>
              </a:spcAft>
            </a:pPr>
            <a:r>
              <a:rPr b="1" sz="1600">
                <a:solidFill>
                  <a:srgbClr val="36B5FF"/>
                </a:solidFill>
                <a:latin typeface="Century Gothic"/>
              </a:rPr>
              <a:t>▸  </a:t>
            </a:r>
            <a:r>
              <a:rPr b="0" sz="1600">
                <a:solidFill>
                  <a:srgbClr val="36B5FF"/>
                </a:solidFill>
                <a:latin typeface="Consolas"/>
              </a:rPr>
              <a:t>Click</a:t>
            </a:r>
            <a:r>
              <a:rPr b="0" sz="1600">
                <a:solidFill>
                  <a:srgbClr val="FFFFFF"/>
                </a:solidFill>
                <a:latin typeface="Century Gothic"/>
              </a:rPr>
              <a:t> da clic en un elemento.</a:t>
            </a:r>
          </a:p>
          <a:p>
            <a:pPr>
              <a:spcAft>
                <a:spcPts val="1000"/>
              </a:spcAft>
            </a:pPr>
            <a:r>
              <a:rPr b="1" sz="1600">
                <a:solidFill>
                  <a:srgbClr val="36B5FF"/>
                </a:solidFill>
                <a:latin typeface="Century Gothic"/>
              </a:rPr>
              <a:t>▸  </a:t>
            </a:r>
            <a:r>
              <a:rPr b="0" sz="1600">
                <a:solidFill>
                  <a:srgbClr val="FFFFFF"/>
                </a:solidFill>
                <a:latin typeface="Century Gothic"/>
              </a:rPr>
              <a:t>Los campos vienen de </a:t>
            </a:r>
            <a:r>
              <a:rPr b="0" sz="1600">
                <a:solidFill>
                  <a:srgbClr val="36B5FF"/>
                </a:solidFill>
                <a:latin typeface="Consolas"/>
              </a:rPr>
              <a:t>PaginaLogin</a:t>
            </a:r>
            <a:r>
              <a:rPr b="0" sz="1600">
                <a:solidFill>
                  <a:srgbClr val="FFFFFF"/>
                </a:solidFill>
                <a:latin typeface="Century Gothic"/>
              </a:rPr>
              <a:t>.</a:t>
            </a:r>
          </a:p>
          <a:p>
            <a:pPr>
              <a:spcAft>
                <a:spcPts val="1000"/>
              </a:spcAft>
            </a:pPr>
            <a:r>
              <a:rPr b="1" sz="1600">
                <a:solidFill>
                  <a:srgbClr val="36B5FF"/>
                </a:solidFill>
                <a:latin typeface="Century Gothic"/>
              </a:rPr>
              <a:t>▸  </a:t>
            </a:r>
            <a:r>
              <a:rPr b="0" sz="1600">
                <a:solidFill>
                  <a:srgbClr val="36B5FF"/>
                </a:solidFill>
                <a:latin typeface="Consolas"/>
              </a:rPr>
              <a:t>@Step</a:t>
            </a:r>
            <a:r>
              <a:rPr b="0" sz="1600">
                <a:solidFill>
                  <a:srgbClr val="FFFFFF"/>
                </a:solidFill>
                <a:latin typeface="Century Gothic"/>
              </a:rPr>
              <a:t> es el texto que sale en el reporte.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b="0" sz="1200">
                <a:solidFill>
                  <a:srgbClr val="C9D6E3"/>
                </a:solidFill>
                <a:latin typeface="Century Gothic"/>
              </a:rPr>
              <a:t>Semillero QA 2026 · Clase 2 · Screenplay Web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b="0" sz="1200">
                <a:solidFill>
                  <a:srgbClr val="C9D6E3"/>
                </a:solidFill>
                <a:latin typeface="Century Gothic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4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11480"/>
            <a:ext cx="1481328" cy="329184"/>
          </a:xfrm>
          <a:prstGeom prst="roundRect">
            <a:avLst>
              <a:gd name="adj" fmla="val 50000"/>
            </a:avLst>
          </a:prstGeom>
          <a:solidFill>
            <a:srgbClr val="0072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wrap="none"/>
          <a:lstStyle/>
          <a:p>
            <a:pPr algn="ctr"/>
            <a:r>
              <a:rPr b="1" sz="1200">
                <a:solidFill>
                  <a:srgbClr val="FFFFFF"/>
                </a:solidFill>
                <a:latin typeface="Century Gothic"/>
              </a:rPr>
              <a:t>QUESTIONS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1094415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b="1" sz="2800">
                <a:solidFill>
                  <a:srgbClr val="FFFFFF"/>
                </a:solidFill>
                <a:latin typeface="Century Gothic"/>
              </a:rPr>
              <a:t>Validar con una pregunta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737360"/>
            <a:ext cx="6949440" cy="4389120"/>
          </a:xfrm>
          <a:prstGeom prst="roundRect">
            <a:avLst>
              <a:gd name="adj" fmla="val 3000"/>
            </a:avLst>
          </a:prstGeom>
          <a:solidFill>
            <a:srgbClr val="0A1B33"/>
          </a:solidFill>
          <a:ln w="12700">
            <a:solidFill>
              <a:srgbClr val="5EA7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847088"/>
            <a:ext cx="27432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b="1" sz="1200">
                <a:solidFill>
                  <a:srgbClr val="36B5FF"/>
                </a:solidFill>
                <a:latin typeface="Century Gothic"/>
              </a:rPr>
              <a:t>Java (LoginSteps.java)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194560"/>
            <a:ext cx="64922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FFFFFF"/>
                </a:solidFill>
                <a:latin typeface="Consolas"/>
              </a:rPr>
              <a:t>@Entonces("debería ver el título {string}")</a:t>
            </a:r>
          </a:p>
          <a:p>
            <a:r>
              <a:rPr sz="1300">
                <a:solidFill>
                  <a:srgbClr val="FFFFFF"/>
                </a:solidFill>
                <a:latin typeface="Consolas"/>
              </a:rPr>
              <a:t>public void deberiaVerElTitulo(String tituloEsperado) {</a:t>
            </a:r>
          </a:p>
          <a:p>
            <a:r>
              <a:rPr sz="1300">
                <a:solidFill>
                  <a:srgbClr val="FFFFFF"/>
                </a:solidFill>
                <a:latin typeface="Consolas"/>
              </a:rPr>
              <a:t>    theActorInTheSpotlight().should(</a:t>
            </a:r>
          </a:p>
          <a:p>
            <a:r>
              <a:rPr sz="1300">
                <a:solidFill>
                  <a:srgbClr val="FFFFFF"/>
                </a:solidFill>
                <a:latin typeface="Consolas"/>
              </a:rPr>
              <a:t>            seeThat(TituloDeLaPagina.visible(),</a:t>
            </a:r>
          </a:p>
          <a:p>
            <a:r>
              <a:rPr sz="1300">
                <a:solidFill>
                  <a:srgbClr val="FFFFFF"/>
                </a:solidFill>
                <a:latin typeface="Consolas"/>
              </a:rPr>
              <a:t>            equalTo(tituloEsperado))</a:t>
            </a:r>
          </a:p>
          <a:p>
            <a:r>
              <a:rPr sz="1300">
                <a:solidFill>
                  <a:srgbClr val="FFFFFF"/>
                </a:solidFill>
                <a:latin typeface="Consolas"/>
              </a:rPr>
              <a:t>                    .orComplainWith(ErrorDeValidacion.class,</a:t>
            </a:r>
          </a:p>
          <a:p>
            <a:r>
              <a:rPr sz="1300">
                <a:solidFill>
                  <a:srgbClr val="FFFFFF"/>
                </a:solidFill>
                <a:latin typeface="Consolas"/>
              </a:rPr>
              <a:t>                Constantes.TITULO_DIFERENTE)</a:t>
            </a:r>
          </a:p>
          <a:p>
            <a:r>
              <a:rPr sz="1300">
                <a:solidFill>
                  <a:srgbClr val="FFFFFF"/>
                </a:solidFill>
                <a:latin typeface="Consolas"/>
              </a:rPr>
              <a:t>    );</a:t>
            </a:r>
          </a:p>
          <a:p>
            <a:r>
              <a:rPr sz="1300">
                <a:solidFill>
                  <a:srgbClr val="FFFFFF"/>
                </a:solidFill>
                <a:latin typeface="Consolas"/>
              </a:rPr>
              <a:t>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0" y="1737360"/>
            <a:ext cx="377921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1" sz="1600">
                <a:solidFill>
                  <a:srgbClr val="36B5FF"/>
                </a:solidFill>
                <a:latin typeface="Century Gothic"/>
              </a:rPr>
              <a:t>▸  </a:t>
            </a:r>
            <a:r>
              <a:rPr b="0" sz="1600">
                <a:solidFill>
                  <a:srgbClr val="36B5FF"/>
                </a:solidFill>
                <a:latin typeface="Consolas"/>
              </a:rPr>
              <a:t>seeThat</a:t>
            </a:r>
            <a:r>
              <a:rPr b="0" sz="1600">
                <a:solidFill>
                  <a:srgbClr val="FFFFFF"/>
                </a:solidFill>
                <a:latin typeface="Century Gothic"/>
              </a:rPr>
              <a:t> hace la pregunta.</a:t>
            </a:r>
          </a:p>
          <a:p>
            <a:pPr>
              <a:spcAft>
                <a:spcPts val="1000"/>
              </a:spcAft>
            </a:pPr>
            <a:r>
              <a:rPr b="1" sz="1600">
                <a:solidFill>
                  <a:srgbClr val="36B5FF"/>
                </a:solidFill>
                <a:latin typeface="Century Gothic"/>
              </a:rPr>
              <a:t>▸  </a:t>
            </a:r>
            <a:r>
              <a:rPr b="0" sz="1600">
                <a:solidFill>
                  <a:srgbClr val="36B5FF"/>
                </a:solidFill>
                <a:latin typeface="Consolas"/>
              </a:rPr>
              <a:t>equalTo</a:t>
            </a:r>
            <a:r>
              <a:rPr b="0" sz="1600">
                <a:solidFill>
                  <a:srgbClr val="FFFFFF"/>
                </a:solidFill>
                <a:latin typeface="Century Gothic"/>
              </a:rPr>
              <a:t> la compara con lo esperado.</a:t>
            </a:r>
          </a:p>
          <a:p>
            <a:pPr>
              <a:spcAft>
                <a:spcPts val="1000"/>
              </a:spcAft>
            </a:pPr>
            <a:r>
              <a:rPr b="1" sz="1600">
                <a:solidFill>
                  <a:srgbClr val="36B5FF"/>
                </a:solidFill>
                <a:latin typeface="Century Gothic"/>
              </a:rPr>
              <a:t>▸  </a:t>
            </a:r>
            <a:r>
              <a:rPr b="0" sz="1600">
                <a:solidFill>
                  <a:srgbClr val="FFFFFF"/>
                </a:solidFill>
                <a:latin typeface="Century Gothic"/>
              </a:rPr>
              <a:t>Si no coincide, </a:t>
            </a:r>
            <a:r>
              <a:rPr b="0" sz="1600">
                <a:solidFill>
                  <a:srgbClr val="36B5FF"/>
                </a:solidFill>
                <a:latin typeface="Consolas"/>
              </a:rPr>
              <a:t>orComplainWith</a:t>
            </a:r>
            <a:r>
              <a:rPr b="0" sz="1600">
                <a:solidFill>
                  <a:srgbClr val="FFFFFF"/>
                </a:solidFill>
                <a:latin typeface="Century Gothic"/>
              </a:rPr>
              <a:t> falla con nuestro </a:t>
            </a:r>
            <a:r>
              <a:rPr b="0" sz="1600">
                <a:solidFill>
                  <a:srgbClr val="36B5FF"/>
                </a:solidFill>
                <a:latin typeface="Consolas"/>
              </a:rPr>
              <a:t>ErrorDeValidacion</a:t>
            </a:r>
            <a:r>
              <a:rPr b="0" sz="1600">
                <a:solidFill>
                  <a:srgbClr val="FFFFFF"/>
                </a:solidFill>
                <a:latin typeface="Century Gothic"/>
              </a:rPr>
              <a:t>.</a:t>
            </a:r>
          </a:p>
          <a:p>
            <a:pPr>
              <a:spcAft>
                <a:spcPts val="1000"/>
              </a:spcAft>
            </a:pPr>
            <a:r>
              <a:rPr b="1" sz="1600">
                <a:solidFill>
                  <a:srgbClr val="36B5FF"/>
                </a:solidFill>
                <a:latin typeface="Century Gothic"/>
              </a:rPr>
              <a:t>▸  </a:t>
            </a:r>
            <a:r>
              <a:rPr b="0" sz="1600">
                <a:solidFill>
                  <a:srgbClr val="FFFFFF"/>
                </a:solidFill>
                <a:latin typeface="Century Gothic"/>
              </a:rPr>
              <a:t>El mensaje en español sale de </a:t>
            </a:r>
            <a:r>
              <a:rPr b="0" sz="1600">
                <a:solidFill>
                  <a:srgbClr val="36B5FF"/>
                </a:solidFill>
                <a:latin typeface="Consolas"/>
              </a:rPr>
              <a:t>Constantes</a:t>
            </a:r>
            <a:r>
              <a:rPr b="0" sz="1600">
                <a:solidFill>
                  <a:srgbClr val="FFFFFF"/>
                </a:solidFill>
                <a:latin typeface="Century Gothic"/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b="0" sz="1200">
                <a:solidFill>
                  <a:srgbClr val="C9D6E3"/>
                </a:solidFill>
                <a:latin typeface="Century Gothic"/>
              </a:rPr>
              <a:t>Semillero QA 2026 · Clase 2 · Screenplay Web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b="0" sz="1200">
                <a:solidFill>
                  <a:srgbClr val="C9D6E3"/>
                </a:solidFill>
                <a:latin typeface="Century Gothic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4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11480"/>
            <a:ext cx="1481328" cy="329184"/>
          </a:xfrm>
          <a:prstGeom prst="roundRect">
            <a:avLst>
              <a:gd name="adj" fmla="val 50000"/>
            </a:avLst>
          </a:prstGeom>
          <a:solidFill>
            <a:srgbClr val="0072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wrap="none"/>
          <a:lstStyle/>
          <a:p>
            <a:pPr algn="ctr"/>
            <a:r>
              <a:rPr b="1" sz="1200">
                <a:solidFill>
                  <a:srgbClr val="FFFFFF"/>
                </a:solidFill>
                <a:latin typeface="Century Gothic"/>
              </a:rPr>
              <a:t>EJECUCIÓN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1094415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b="1" sz="2800">
                <a:solidFill>
                  <a:srgbClr val="FFFFFF"/>
                </a:solidFill>
                <a:latin typeface="Century Gothic"/>
              </a:rPr>
              <a:t>Ejecutar y leer el resultado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737360"/>
            <a:ext cx="6949440" cy="4389120"/>
          </a:xfrm>
          <a:prstGeom prst="roundRect">
            <a:avLst>
              <a:gd name="adj" fmla="val 3000"/>
            </a:avLst>
          </a:prstGeom>
          <a:solidFill>
            <a:srgbClr val="0A1B33"/>
          </a:solidFill>
          <a:ln w="12700">
            <a:solidFill>
              <a:srgbClr val="5EA7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847088"/>
            <a:ext cx="27432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b="1" sz="1200">
                <a:solidFill>
                  <a:srgbClr val="36B5FF"/>
                </a:solidFill>
                <a:latin typeface="Century Gothic"/>
              </a:rPr>
              <a:t>PowerShell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194560"/>
            <a:ext cx="64922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FFFFFF"/>
                </a:solidFill>
                <a:latin typeface="Consolas"/>
              </a:rPr>
              <a:t># Todo, viendo Chrome</a:t>
            </a:r>
          </a:p>
          <a:p>
            <a:r>
              <a:rPr sz="1300">
                <a:solidFill>
                  <a:srgbClr val="FFFFFF"/>
                </a:solidFill>
                <a:latin typeface="Consolas"/>
              </a:rPr>
              <a:t>gradle clean test</a:t>
            </a:r>
          </a:p>
          <a:p>
            <a:r>
              <a:rPr sz="1300">
                <a:solidFill>
                  <a:srgbClr val="FFFFFF"/>
                </a:solidFill>
                <a:latin typeface="Consolas"/>
              </a:rPr>
              <a:t> </a:t>
            </a:r>
          </a:p>
          <a:p>
            <a:r>
              <a:rPr sz="1300">
                <a:solidFill>
                  <a:srgbClr val="FFFFFF"/>
                </a:solidFill>
                <a:latin typeface="Consolas"/>
              </a:rPr>
              <a:t># Sin ventana</a:t>
            </a:r>
          </a:p>
          <a:p>
            <a:r>
              <a:rPr sz="1300">
                <a:solidFill>
                  <a:srgbClr val="FFFFFF"/>
                </a:solidFill>
                <a:latin typeface="Consolas"/>
              </a:rPr>
              <a:t>gradle clean test "-Dheadless.mode=true"</a:t>
            </a:r>
          </a:p>
          <a:p>
            <a:r>
              <a:rPr sz="1300">
                <a:solidFill>
                  <a:srgbClr val="FFFFFF"/>
                </a:solidFill>
                <a:latin typeface="Consolas"/>
              </a:rPr>
              <a:t> </a:t>
            </a:r>
          </a:p>
          <a:p>
            <a:r>
              <a:rPr sz="1300">
                <a:solidFill>
                  <a:srgbClr val="FFFFFF"/>
                </a:solidFill>
                <a:latin typeface="Consolas"/>
              </a:rPr>
              <a:t># Solo un tag</a:t>
            </a:r>
          </a:p>
          <a:p>
            <a:r>
              <a:rPr sz="1300">
                <a:solidFill>
                  <a:srgbClr val="FFFFFF"/>
                </a:solidFill>
                <a:latin typeface="Consolas"/>
              </a:rPr>
              <a:t>gradle clean test "-Dcucumber.filter.tags=@bloqueado"</a:t>
            </a:r>
          </a:p>
          <a:p>
            <a:r>
              <a:rPr sz="1300">
                <a:solidFill>
                  <a:srgbClr val="FFFFFF"/>
                </a:solidFill>
                <a:latin typeface="Consolas"/>
              </a:rPr>
              <a:t> </a:t>
            </a:r>
          </a:p>
          <a:p>
            <a:r>
              <a:rPr sz="1300">
                <a:solidFill>
                  <a:srgbClr val="FFFFFF"/>
                </a:solidFill>
                <a:latin typeface="Consolas"/>
              </a:rPr>
              <a:t># Abrir el reporte</a:t>
            </a:r>
          </a:p>
          <a:p>
            <a:r>
              <a:rPr sz="1300">
                <a:solidFill>
                  <a:srgbClr val="FFFFFF"/>
                </a:solidFill>
                <a:latin typeface="Consolas"/>
              </a:rPr>
              <a:t>start target\site\serenity\index.html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0" y="1737360"/>
            <a:ext cx="377921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1" sz="1600">
                <a:solidFill>
                  <a:srgbClr val="36B5FF"/>
                </a:solidFill>
                <a:latin typeface="Century Gothic"/>
              </a:rPr>
              <a:t>▸  </a:t>
            </a:r>
            <a:r>
              <a:rPr b="0" sz="1600">
                <a:solidFill>
                  <a:srgbClr val="FFFFFF"/>
                </a:solidFill>
                <a:latin typeface="Century Gothic"/>
              </a:rPr>
              <a:t>Se ejecuta en PowerShell, en la carpeta del proyecto.</a:t>
            </a:r>
          </a:p>
          <a:p>
            <a:pPr>
              <a:spcAft>
                <a:spcPts val="1000"/>
              </a:spcAft>
            </a:pPr>
            <a:r>
              <a:rPr b="1" sz="1600">
                <a:solidFill>
                  <a:srgbClr val="36B5FF"/>
                </a:solidFill>
                <a:latin typeface="Century Gothic"/>
              </a:rPr>
              <a:t>▸  </a:t>
            </a:r>
            <a:r>
              <a:rPr b="0" sz="1600">
                <a:solidFill>
                  <a:srgbClr val="FFFFFF"/>
                </a:solidFill>
                <a:latin typeface="Century Gothic"/>
              </a:rPr>
              <a:t>Los </a:t>
            </a:r>
            <a:r>
              <a:rPr b="0" sz="1600">
                <a:solidFill>
                  <a:srgbClr val="36B5FF"/>
                </a:solidFill>
                <a:latin typeface="Consolas"/>
              </a:rPr>
              <a:t>-D</a:t>
            </a:r>
            <a:r>
              <a:rPr b="0" sz="1600">
                <a:solidFill>
                  <a:srgbClr val="FFFFFF"/>
                </a:solidFill>
                <a:latin typeface="Century Gothic"/>
              </a:rPr>
              <a:t> van entre comillas.</a:t>
            </a:r>
          </a:p>
          <a:p>
            <a:pPr>
              <a:spcAft>
                <a:spcPts val="1000"/>
              </a:spcAft>
            </a:pPr>
            <a:r>
              <a:rPr b="1" sz="1600">
                <a:solidFill>
                  <a:srgbClr val="36B5FF"/>
                </a:solidFill>
                <a:latin typeface="Century Gothic"/>
              </a:rPr>
              <a:t>▸  </a:t>
            </a:r>
            <a:r>
              <a:rPr b="0" sz="1600">
                <a:solidFill>
                  <a:srgbClr val="36B5FF"/>
                </a:solidFill>
                <a:latin typeface="Consolas"/>
              </a:rPr>
              <a:t>PASSED</a:t>
            </a:r>
            <a:r>
              <a:rPr b="0" sz="1600">
                <a:solidFill>
                  <a:srgbClr val="FFFFFF"/>
                </a:solidFill>
                <a:latin typeface="Century Gothic"/>
              </a:rPr>
              <a:t> es verde, </a:t>
            </a:r>
            <a:r>
              <a:rPr b="0" sz="1600">
                <a:solidFill>
                  <a:srgbClr val="36B5FF"/>
                </a:solidFill>
                <a:latin typeface="Consolas"/>
              </a:rPr>
              <a:t>FAILED</a:t>
            </a:r>
            <a:r>
              <a:rPr b="0" sz="1600">
                <a:solidFill>
                  <a:srgbClr val="FFFFFF"/>
                </a:solidFill>
                <a:latin typeface="Century Gothic"/>
              </a:rPr>
              <a:t> es rojo.</a:t>
            </a:r>
          </a:p>
          <a:p>
            <a:pPr>
              <a:spcAft>
                <a:spcPts val="1000"/>
              </a:spcAft>
            </a:pPr>
            <a:r>
              <a:rPr b="1" sz="1600">
                <a:solidFill>
                  <a:srgbClr val="36B5FF"/>
                </a:solidFill>
                <a:latin typeface="Century Gothic"/>
              </a:rPr>
              <a:t>▸  </a:t>
            </a:r>
            <a:r>
              <a:rPr b="0" sz="1600">
                <a:solidFill>
                  <a:srgbClr val="FFFFFF"/>
                </a:solidFill>
                <a:latin typeface="Century Gothic"/>
              </a:rPr>
              <a:t>Con un tag, los demás escenarios salen </a:t>
            </a:r>
            <a:r>
              <a:rPr b="0" sz="1600">
                <a:solidFill>
                  <a:srgbClr val="36B5FF"/>
                </a:solidFill>
                <a:latin typeface="Consolas"/>
              </a:rPr>
              <a:t>SKIPPED</a:t>
            </a:r>
            <a:r>
              <a:rPr b="0" sz="1600">
                <a:solidFill>
                  <a:srgbClr val="FFFFFF"/>
                </a:solidFill>
                <a:latin typeface="Century Gothic"/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b="0" sz="1200">
                <a:solidFill>
                  <a:srgbClr val="C9D6E3"/>
                </a:solidFill>
                <a:latin typeface="Century Gothic"/>
              </a:rPr>
              <a:t>Semillero QA 2026 · Clase 2 · Screenplay Web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b="0" sz="1200">
                <a:solidFill>
                  <a:srgbClr val="C9D6E3"/>
                </a:solidFill>
                <a:latin typeface="Century Gothic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4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11480"/>
            <a:ext cx="1124712" cy="329184"/>
          </a:xfrm>
          <a:prstGeom prst="roundRect">
            <a:avLst>
              <a:gd name="adj" fmla="val 50000"/>
            </a:avLst>
          </a:prstGeom>
          <a:solidFill>
            <a:srgbClr val="0072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wrap="none"/>
          <a:lstStyle/>
          <a:p>
            <a:pPr algn="ctr"/>
            <a:r>
              <a:rPr b="1" sz="1200">
                <a:solidFill>
                  <a:srgbClr val="FFFFFF"/>
                </a:solidFill>
                <a:latin typeface="Century Gothic"/>
              </a:rPr>
              <a:t>CIERRE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1094415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b="1" sz="2800">
                <a:solidFill>
                  <a:srgbClr val="FFFFFF"/>
                </a:solidFill>
                <a:latin typeface="Century Gothic"/>
              </a:rPr>
              <a:t>Actividad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737360"/>
            <a:ext cx="67665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b="1" sz="1800">
                <a:solidFill>
                  <a:srgbClr val="36B5FF"/>
                </a:solidFill>
                <a:latin typeface="Century Gothic"/>
              </a:rPr>
              <a:t>✓  </a:t>
            </a:r>
            <a:r>
              <a:rPr b="0" sz="1800">
                <a:solidFill>
                  <a:srgbClr val="FFFFFF"/>
                </a:solidFill>
                <a:latin typeface="Century Gothic"/>
              </a:rPr>
              <a:t>Un escenario nuevo: agregar la mochila al carrito y ver 1 en el contador.</a:t>
            </a:r>
          </a:p>
          <a:p>
            <a:pPr>
              <a:spcAft>
                <a:spcPts val="1200"/>
              </a:spcAft>
            </a:pPr>
            <a:r>
              <a:rPr b="1" sz="1800">
                <a:solidFill>
                  <a:srgbClr val="36B5FF"/>
                </a:solidFill>
                <a:latin typeface="Century Gothic"/>
              </a:rPr>
              <a:t>✓  </a:t>
            </a:r>
            <a:r>
              <a:rPr b="0" sz="1800">
                <a:solidFill>
                  <a:srgbClr val="FFFFFF"/>
                </a:solidFill>
                <a:latin typeface="Century Gothic"/>
              </a:rPr>
              <a:t>Creas lo mínimo en cada capa: localizadores, tarea, pregunta y steps.</a:t>
            </a:r>
          </a:p>
          <a:p>
            <a:pPr>
              <a:spcAft>
                <a:spcPts val="1200"/>
              </a:spcAft>
            </a:pPr>
            <a:r>
              <a:rPr b="1" sz="1800">
                <a:solidFill>
                  <a:srgbClr val="36B5FF"/>
                </a:solidFill>
                <a:latin typeface="Century Gothic"/>
              </a:rPr>
              <a:t>✓  </a:t>
            </a:r>
            <a:r>
              <a:rPr b="0" sz="1800">
                <a:solidFill>
                  <a:srgbClr val="FFFFFF"/>
                </a:solidFill>
                <a:latin typeface="Century Gothic"/>
              </a:rPr>
              <a:t>Reto opcional: login con clave incorrecta.</a:t>
            </a:r>
          </a:p>
          <a:p>
            <a:pPr>
              <a:spcAft>
                <a:spcPts val="1200"/>
              </a:spcAft>
            </a:pPr>
            <a:r>
              <a:rPr b="1" sz="1800">
                <a:solidFill>
                  <a:srgbClr val="36B5FF"/>
                </a:solidFill>
                <a:latin typeface="Century Gothic"/>
              </a:rPr>
              <a:t>✓  </a:t>
            </a:r>
            <a:r>
              <a:rPr b="0" sz="1800">
                <a:solidFill>
                  <a:srgbClr val="FFFFFF"/>
                </a:solidFill>
                <a:latin typeface="Century Gothic"/>
              </a:rPr>
              <a:t>Entregas GitHub o .zip con captura en verde.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680960" y="1737360"/>
            <a:ext cx="3962095" cy="3931920"/>
          </a:xfrm>
          <a:prstGeom prst="roundRect">
            <a:avLst>
              <a:gd name="adj" fmla="val 6000"/>
            </a:avLst>
          </a:prstGeom>
          <a:solidFill>
            <a:srgbClr val="0B2C59"/>
          </a:solidFill>
          <a:ln w="15875">
            <a:solidFill>
              <a:srgbClr val="5EA7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7909560" y="1965960"/>
            <a:ext cx="3504895" cy="5486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b="1" sz="1800">
                <a:solidFill>
                  <a:srgbClr val="FFFFFF"/>
                </a:solidFill>
                <a:latin typeface="Century Gothic"/>
              </a:rPr>
              <a:t>Entrega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09560" y="2468880"/>
            <a:ext cx="3504895" cy="3017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b="0" sz="1400">
                <a:solidFill>
                  <a:srgbClr val="C9D6E3"/>
                </a:solidFill>
                <a:latin typeface="Century Gothic"/>
              </a:rPr>
              <a:t>Viernes 25 de septiembre de 2026, 8:00 a.m.</a:t>
            </a:r>
          </a:p>
          <a:p>
            <a:pPr algn="l"/>
          </a:p>
          <a:p>
            <a:pPr algn="l"/>
            <a:r>
              <a:rPr b="0" sz="1400">
                <a:solidFill>
                  <a:srgbClr val="C9D6E3"/>
                </a:solidFill>
                <a:latin typeface="Century Gothic"/>
              </a:rPr>
              <a:t>Retroalimentación: Viernes 25 de septiembre de 2026, 8:00 – 9:00 a.m.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b="0" sz="1200">
                <a:solidFill>
                  <a:srgbClr val="C9D6E3"/>
                </a:solidFill>
                <a:latin typeface="Century Gothic"/>
              </a:rPr>
              <a:t>Semillero QA 2026 · Clase 2 · Screenplay Web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b="0" sz="1200">
                <a:solidFill>
                  <a:srgbClr val="C9D6E3"/>
                </a:solidFill>
                <a:latin typeface="Century Gothic"/>
              </a:rP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Diego Zapata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