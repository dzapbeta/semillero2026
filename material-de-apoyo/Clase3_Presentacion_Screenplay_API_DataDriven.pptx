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 – 9:05 · 5 min] Bienvenida. Venimos de la retro de la actividad 2 (8:00–9:00). Hoy usamos el mismo Screenplay de la clase 2, pero contra una API: sin navegador. Pedir que tengan la rama 03-screenplay-serenity-cucumber-api-datadriven clonada y que ejecuten mvn clean verify mientras hablamos (la primera vez descarga dependencias).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[9:05 – 9:15 · 10 min] Objetivo: al salir, cada uno puede automatizar un endpoint nuevo de DummyJSON respetando capas y alimentarlo con datos de tres formas. Recorrer la agenda; la demo en vivo va en el bloque de data driven. Confirmar que mvn clean verify ya terminó en los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[9:15 – 9:30 · 15 min] Recalcar que el patrón NO cambia: actor, tareas, preguntas, OnStage, orComplainWith. Cambia la habilidad y dónde actúan las interacciones. Pregunta al grupo: ¿qué sería un Target en una API? (la ruta del recurso). Mostrar en el navegador https://dummyjson.com/products/1 para que vean un JSON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[9:30 – 9:45 · 15 min] Recorrer cada tarjeta abriendo la clase en el IDE. Detenerse en la memoria del actor: IniciarSesion guarda el token y ConsultarConToken lo lee. Es la forma Screenplay de pasar datos entre pasos sin variables estáticas.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[9:45 – 10:00 · 15 min] Mostrar el árbol de carpetas del README. Ejercicio rápido: les digo una clase (LectorCsv, CampoDelCuerpo, Endpoints, CodigoDeRespuestaInesperado) y ellos dicen la capa y qué NO debe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– 10:30 · 30 min] Abrir IniciarSesion, CredencialesLogin (@JsonProperty) y ValidacionesStepDefinitions. Ejecutar en vivo: mvn clean verify -Dcucumber.filter.tags="@login" (6 escenarios). Luego cambiar a propósito el mensaje esperado de un ejemplo y volver a ejecutar para que vean el fallo con CodigoDeRespuestaInesperado / CuerpoDeRespuestaInesperado. Revertir el cambio. [10:30 – 10:40 pausa]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[10:40 – 11:20 · 40 min] Nivel 1: inicio_sesion.feature, celda vacía = texto vacío. Nivel 2: abrir productos.csv y LectorCsv; agregar en vivo P06,16,Apple,groceries,1.99 y | P06 | en Ejemplos; ejecutar @csv. Nivel 3: creacion_productos.feature y ConversionDeDatos. Discutir ventajas y riesgos de cada nivel.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[11:20 – 11:35 · 15 min] Abrir target/site/serenity/index.html. Entrar a 'Consultar el perfil con el token', expandir hasta 'executes a GET on the resource /auth/me' y abrir REST Query. Mostrar que el reporte guarda el token: en proyectos reales no se publica con credenciales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[11:35 – 11:45 · 10 min] Cada fila es un error que ya pasó construyendo este proyecto o que es típico en la actividad. Insistir: antes de escribir una aserción, consultar la respuesta real con curl o 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[11:45 – 12:00 · 15 min] Leer juntos el documento de la actividad: nivel básico (usuarios) y reto (carritos con token). Revisar la rúbrica y la fecha: Martes 29 de septiembre de 2026, 8:00 a.m.. Resolver dudas. Recordar que la retro es Martes 29 de septiembre de 2026, 8:00 – 9:00 a.m., antes de la clase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CLASE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  <a:latin typeface="Century Gothic"/>
              </a:rPr>
              <a:t>Screenplay para API</a:t>
            </a:r>
          </a:p>
          <a:p>
            <a:pPr algn="l"/>
            <a:r>
              <a:rPr b="1" sz="4000">
                <a:solidFill>
                  <a:srgbClr val="FFFFFF"/>
                </a:solidFill>
                <a:latin typeface="Century Gothic"/>
              </a:rPr>
              <a:t>+ Data 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2200">
                <a:solidFill>
                  <a:srgbClr val="36B5FF"/>
                </a:solidFill>
                <a:latin typeface="Century Gothic"/>
              </a:rPr>
              <a:t>Serenity BDD · Cucumber · DummyJSON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Viernes 25 de septiembre de 2026 · 9:00 a.m. – 12:00 m.</a:t>
            </a:r>
          </a:p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Diego Zapata — Equipo Transversal 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OBJETIVO Y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Objetivo: automatizar una API con capas y datos externos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299"/>
                <a:gridCol w="4236049"/>
                <a:gridCol w="5648065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Hora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Bloque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Al terminar el bloque puedes…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9:05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Objetivo y agenda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Saber qué se construye hoy y cómo se entrega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9:15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De Web a API · Screenplay API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Explicar qué cambia respecto a la clase 2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9:45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Capas y código real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Ubicar cada clase en su capa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10:30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Pausa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10:40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Data driven en tres niveles (demo)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Agregar un dato nuevo en Ejemplos, CSV y DataTable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11:20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Ejecución, reporte y errores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Leer request y response en el reporte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11:45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Actividad 3 y preguntas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Empezar la actividad con claridad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83794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DE WEB 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De Web a API: qué cambia y qué 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913"/>
                <a:gridCol w="4350750"/>
                <a:gridCol w="435075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Aspecto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Web (clase 2)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API (clase 3)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Habilidad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BrowseTheWeb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CallAnApi.at(urlBase)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Dónde actuar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userinterfaces · Target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utils/Endpoints · rutas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Interacciones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Click, Enter, Open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Get, Post, ConsultarConToken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Preguntas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Texto de un elemento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Código HTTP, campo JSON, modelo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Evidencia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Capturas de pantalla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REST Query (request / response)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Igual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Gherkin, steps, Task, Question, seeThat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Gherkin, steps, Task, Question, seeThat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CONCEPTOS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Screenplay para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Analista QA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Se crea en Hooks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 Gherkin: "el analista"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Ejecuta con attemptsTo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51578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Habilidad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CallAnApi.at(urlBase)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URL en serenity.conf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 Web era BrowseTheWeb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Se cambia con -D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73736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5916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46888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IniciarSesion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ConsultarProducto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CrearProducto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Acción de negocio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Get y Post de Serenity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ConsultarConToken (propia)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Agrega Authorization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Acción técnica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51578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CodigoDeRespuesta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CampoDelCuerpo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CuerpoDeLaRespuesta&lt;T&gt;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Solo leen la respuesta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46220"/>
            <a:ext cx="3545738" cy="20802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5916" y="427482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Memoria del 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4777740"/>
            <a:ext cx="3088538" cy="11658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remember / recall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Token de acceso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Fila del CSV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Producto enviado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83794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Capas: de la frase a la validación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Gherkin en español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Cuando el analista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inicia sesión…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Tags: @login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4059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49819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78419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419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Traduce la frase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 código Java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Solo llama tareas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y preguntas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85238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50998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79598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9598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IniciarSesion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Envía el login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Guarda el token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 la memoria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417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177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777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Interacción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777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Post.to(...)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Viaja a DummyJSON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y vuelve con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código y JSON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7596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53356" y="2057400"/>
            <a:ext cx="1889699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81956" y="2286000"/>
            <a:ext cx="1432499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1956" y="2788920"/>
            <a:ext cx="1432499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Lee el código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HTTP y el JSON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seeThat valida;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si falla, lanza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excepción propia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Los steps no envían peticiones · las tareas no validan · las preguntas no actúan · models, utils y exceptions no dependen de nadie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CÓDIGO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Una tarea real: IniciarSesion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public &lt;T extends Actor&gt; void performAs(T actor)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actor.attemptsTo(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Post.to(Endpoints.INICIAR_SESION)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.with(peticion -&gt; peticion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.contentType(ContentType.JSON)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.body(credenciales)));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if (SerenityRest.lastResponse()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.statusCode() == OK)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actor.remember(TOKEN_DE_ACCESO,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SerenityRest.lastResponse()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.jsonPath().getString("accessToken"));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body(credenciales)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Jackson convierte el modelo en JSON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Endpoints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la ruta vive en utils, no en la tarea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remember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guarda el token para el siguiente paso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El step valida después con </a:t>
            </a:r>
            <a:r>
              <a:rPr b="0" sz="1600">
                <a:solidFill>
                  <a:srgbClr val="36B5FF"/>
                </a:solidFill>
                <a:latin typeface="Consolas"/>
              </a:rPr>
              <a:t>CodigoDeRespuesta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DATA 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Data driven en tres niveles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8853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36B5FF"/>
                </a:solidFill>
                <a:latin typeface="Century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Ejemplos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088538" cy="3063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Esquema del escenario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inicio_sesion.feature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Cuándo: pocos datos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que el negocio lee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Nuevo dato: otra fila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 Ejemplos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51578" y="1965960"/>
            <a:ext cx="308853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36B5FF"/>
                </a:solidFill>
                <a:latin typeface="Century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1578" y="237744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Archivo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880360"/>
            <a:ext cx="3088538" cy="3063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data/productos.csv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leído con LectorCsv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Cuándo: muchos datos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o externos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Nuevo dato: fila en el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CSV + caso en Ejemplos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5916" y="1965960"/>
            <a:ext cx="308853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36B5FF"/>
                </a:solidFill>
                <a:latin typeface="Century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5916" y="237744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DataTable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880360"/>
            <a:ext cx="3088538" cy="3063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creacion_productos.feature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@DataTableType → Producto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Cuándo: objetos con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varios campos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Nuevo dato: otra tabla,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el Java no cambia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67004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EJECUCIÓN Y REPORTE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Cómo ejecutar y dónde mirar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# Todo (19 escenarios + reporte)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mvn clean verify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Por tag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mvn clean verify \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-Dcucumber.filter.tags="@csv or @datatable"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Otra URL base / tiempo de espera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mvn clean verify -Drestapi.baseurl=https://...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mvn clean verify -Drestapi.timeout.ms=30000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# Reporte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target/site/serenity/index.html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Resultado real: </a:t>
            </a:r>
            <a:r>
              <a:rPr b="0" sz="1600">
                <a:solidFill>
                  <a:srgbClr val="36B5FF"/>
                </a:solidFill>
                <a:latin typeface="Consolas"/>
              </a:rPr>
              <a:t>Tests run: 19, Failures: 0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Con tag, lo demás sale como Skipped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En el reporte: expandir el paso y pulsar </a:t>
            </a:r>
            <a:r>
              <a:rPr b="1" sz="1600">
                <a:solidFill>
                  <a:srgbClr val="FFFFFF"/>
                </a:solidFill>
                <a:latin typeface="Century Gothic"/>
              </a:rPr>
              <a:t>REST Query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Allí se ven URL, código, cabeceras y cuerpo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Detalles que evitan horas de depuración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0851"/>
                <a:gridCol w="6163563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Síntoma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Qué revisar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Read timed out / UnknownHost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Internet, restapi.baseurl, restapi.timeout.ms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Expected &lt;200&gt; but was &lt;404&gt; en todo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URL base con una ruta de más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Campo JSON llega null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JSON path exacto (mayúsculas) en REST Query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DatoDePruebaNoEncontrado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El caso de Ejemplos existe en el CSV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Tildes dañadas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CSV y features en UTF-8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NoClassDefFoundError JUnit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junit-bom en el pom.xml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Actividad 3: usuarios y carritos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Esquema del escenario + CSV externo + DataTable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Mismas capas de esta rama, con comentarios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mvn clean verify en verde y captura del reporte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Repositorio propio en GitHub o archivo .zip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962095" cy="39319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09560" y="1965960"/>
            <a:ext cx="35048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68880"/>
            <a:ext cx="3504895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Martes 29 de septiembre de 2026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8:00 a.m.</a:t>
            </a:r>
          </a:p>
          <a:p>
            <a:pPr algn="l"/>
          </a:p>
          <a:p>
            <a:pPr algn="l"/>
            <a:r>
              <a:rPr b="1" sz="1400">
                <a:solidFill>
                  <a:srgbClr val="C9D6E3"/>
                </a:solidFill>
                <a:latin typeface="Century Gothic"/>
              </a:rPr>
              <a:t>Retroalimentación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Martes 29 de septiembre de 2026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8:00 – 9:00 a.m.</a:t>
            </a:r>
          </a:p>
          <a:p>
            <a:pPr algn="l"/>
          </a:p>
          <a:p>
            <a:pPr algn="l"/>
            <a:r>
              <a:rPr b="1" sz="1400">
                <a:solidFill>
                  <a:srgbClr val="C9D6E3"/>
                </a:solidFill>
                <a:latin typeface="Century Gothic"/>
              </a:rPr>
              <a:t>Qué enviar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Enlace de GitHub o .zip</a:t>
            </a:r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+ captura del reporte Serenity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3 · Screenplay API + Data 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Semillero QA 2026 — Equipo Transversal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