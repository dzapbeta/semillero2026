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6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73736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4000">
                <a:solidFill>
                  <a:srgbClr val="FFFFFF"/>
                </a:solidFill>
                <a:latin typeface="Century Gothic"/>
              </a:rPr>
              <a:t>Playwright y Page Object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2200">
                <a:solidFill>
                  <a:srgbClr val="36B5FF"/>
                </a:solidFill>
                <a:latin typeface="Century Gothic"/>
              </a:rPr>
              <a:t>Los mismos logins de la clase 2, ahora en TypeScript y VS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Martes 29 de septiembre de 2026 · Diego Zapata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Playwright en tres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Maneja el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088538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Abre Chromium, escribe, hace clic y revisa textos desde TypeScript.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51578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Espera solo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1578" y="2468880"/>
            <a:ext cx="3088538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Antes de cada acción espera el elemento. Cada expect vuelve a mirar hasta 5 segundos.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1737360"/>
            <a:ext cx="3545738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5916" y="1965960"/>
            <a:ext cx="3088538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Te muestra qué pasó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5916" y="2468880"/>
            <a:ext cx="3088538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Reporte HTML, captura y traza paso a paso cuando una prueba falla.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LENGUAJE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De Java a TypeScript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2915"/>
                <a:gridCol w="6051499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En Java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En TypeScript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String nombre = "Ana";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const nombre: string = 'Ana';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private final Locator boton;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private readonly boton: Locator;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public LoginPage(Page page) { ... }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constructor(page: Page) { ... }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import co.com.semillero.pages.LoginPage;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import { LoginPage } from '../pages/LoginPage';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public class se usa desde otra clase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export class se puede importar desde otro archivo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@Test void loginExitoso() { ... }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test('login exitoso', async ({ page }) =&gt; { ... });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POM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LoginPage: el control remoto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TypeScript, resumido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export class LoginPage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private readonly campoUsuario: Locator;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private readonly campoClave: Locator;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private readonly botonLogin: Locator;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readonly mensajeError: Locator;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constructor(page: Page)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this.campoUsuario = page.getByPlaceholder('Username');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this.campoClave = page.getByPlaceholder('Password');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this.botonLogin = page.getByRole('button', { name: 'Login' });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this.mensajeError = page.getByTestId('error');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async iniciarSesion(usuario: string, clave: string)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this.campoUsuario.fill(usuario);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this.campoClave.fill(clave);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this.botonLogin.click();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}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private readonly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los cables, la prueba no los ve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Métodos </a:t>
            </a:r>
            <a:r>
              <a:rPr b="0" sz="1600">
                <a:solidFill>
                  <a:srgbClr val="36B5FF"/>
                </a:solidFill>
                <a:latin typeface="Consolas"/>
              </a:rPr>
              <a:t>async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los botones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mensajeError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público: la pantallita que la prueba revisa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await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espera a que termine, como en la fila del banco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76809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POM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Quién habla con quién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200779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login.spec.ts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2007793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La prueba. Dice qué hacer y qué revisar.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59353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5113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53713" y="2286000"/>
            <a:ext cx="200779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LoginPage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713" y="2788920"/>
            <a:ext cx="2007793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Traduce iniciarSesion() a escribir y hacer clic.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5826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1586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0186" y="2286000"/>
            <a:ext cx="200779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Playwright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0186" y="2788920"/>
            <a:ext cx="2007793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Busca el elemento, espera y actúa.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12299" y="3383280"/>
            <a:ext cx="320040" cy="0"/>
          </a:xfrm>
          <a:prstGeom prst="line">
            <a:avLst/>
          </a:prstGeom>
          <a:ln w="31750">
            <a:solidFill>
              <a:srgbClr val="36B5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78059" y="2057400"/>
            <a:ext cx="2464993" cy="265176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06659" y="2286000"/>
            <a:ext cx="200779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Chromium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6659" y="2788920"/>
            <a:ext cx="2007793" cy="1737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Abre saucedemo.com y muestra el resultado.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1094415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600">
                <a:solidFill>
                  <a:srgbClr val="C9D6E3"/>
                </a:solidFill>
                <a:latin typeface="Century Gothic"/>
              </a:rPr>
              <a:t>usuarios.ts le pasa los datos a la prueba. Playwright abre una pestaña limpia para cada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Una prueba con POM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test('login con usuario bloqueado muestra mensaje de error',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async ({ page }) =&gt;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const login = new LoginPage(page);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login.abrir();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login.iniciarSesion(usuarioBloqueado.nombre,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                      usuarioBloqueado.clave);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await expect(login.mensajeError).toHaveText(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'Epic sadface: Sorry, this user has been locked out.');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});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page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: pestaña nueva y limpia para cada prueba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Crear la página y apretar sus botones con </a:t>
            </a:r>
            <a:r>
              <a:rPr b="0" sz="1600">
                <a:solidFill>
                  <a:srgbClr val="36B5FF"/>
                </a:solidFill>
                <a:latin typeface="Consolas"/>
              </a:rPr>
              <a:t>await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36B5FF"/>
                </a:solidFill>
                <a:latin typeface="Consolas"/>
              </a:rPr>
              <a:t>expect(...).toHaveText(...)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 revisa el texto y reintenta hasta 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24358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Data driven con un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6949440" cy="4389120"/>
          </a:xfrm>
          <a:prstGeom prst="roundRect">
            <a:avLst>
              <a:gd name="adj" fmla="val 3000"/>
            </a:avLst>
          </a:prstGeom>
          <a:solidFill>
            <a:srgbClr val="0A1B33"/>
          </a:solidFill>
          <a:ln w="12700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743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200">
                <a:solidFill>
                  <a:srgbClr val="36B5FF"/>
                </a:solidFill>
                <a:latin typeface="Century Gothic"/>
              </a:rPr>
              <a:t>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nsolas"/>
              </a:rPr>
              <a:t>// data/usuarios.ts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export const loginsInvalidos: LoginInvalido[] = [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{ descripcion: 'clave incorrecta', ... },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{ descripcion: 'usuario vacío', ... },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{ descripcion: 'clave vacía', ... },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];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// tests/login.spec.ts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for (const caso of loginsInvalidos)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test(`login inválido: ${caso.descripcion}`,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async ({ page }) =&gt; {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const login = new LoginPage(page);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await login.abrir();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await login.iniciarSesion(caso.nombre, caso.clave);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await expect(login.mensajeError)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    .toHaveText(caso.mensajeEsperado);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    });</a:t>
            </a:r>
          </a:p>
          <a:p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7792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Una prueba escrita, una ejecución por caso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6B5FF"/>
                </a:solidFill>
                <a:latin typeface="Century Gothic"/>
              </a:rPr>
              <a:t>▸  </a:t>
            </a:r>
            <a:r>
              <a:rPr b="0" sz="1600">
                <a:solidFill>
                  <a:srgbClr val="FFFFFF"/>
                </a:solidFill>
                <a:latin typeface="Century Gothic"/>
              </a:rPr>
              <a:t>Caso nuevo = un elemento más en la 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837944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HERRAMIENTAS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VS Code con la extensión de Playwright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02153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Triángulo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2144953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Junto a cada test. Clic para correrla, clic derecho para depurarla.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737360"/>
            <a:ext cx="2602153" cy="438912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07993" y="196596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Pestaña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7993" y="2468880"/>
            <a:ext cx="2144953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Todas las pruebas en árbol: todas, un archivo o una sola.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6" y="1737360"/>
            <a:ext cx="2602153" cy="43891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38746" y="196596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Show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746" y="2468880"/>
            <a:ext cx="2144953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Muestra el navegador mientras corre la prueba.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899" y="1737360"/>
            <a:ext cx="2602153" cy="4389120"/>
          </a:xfrm>
          <a:prstGeom prst="roundRect">
            <a:avLst>
              <a:gd name="adj" fmla="val 6000"/>
            </a:avLst>
          </a:prstGeom>
          <a:solidFill>
            <a:srgbClr val="08264F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69499" y="1965960"/>
            <a:ext cx="2144953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Pick locator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9499" y="2468880"/>
            <a:ext cx="2144953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Pasas el mouse sobre la página y te propone el localizador.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COMPARAR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POM frente a Screenplay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9441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49"/>
                <a:gridCol w="4034332"/>
                <a:gridCol w="4034332"/>
              </a:tblGrid>
              <a:tr h="50292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Screenplay (clase 2)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POM (hoy)</a:t>
                      </a:r>
                    </a:p>
                  </a:txBody>
                  <a:tcPr>
                    <a:solidFill>
                      <a:srgbClr val="0072B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Quién hace las acciones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Un actor que ejecuta tareas (Task)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La página, con sus métodos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Dónde están los localizadores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En las clases de userinterfaces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Dentro de cada página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Cómo se valida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Con preguntas (Question)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La prueba revisa un localizador de la página con expect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Cantidad de clases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Más clases, cada una pequeña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Pocas: una por pantalla</a:t>
                      </a:r>
                    </a:p>
                  </a:txBody>
                  <a:tcPr>
                    <a:solidFill>
                      <a:srgbClr val="08264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entury Gothic"/>
                        </a:rPr>
                        <a:t>Cuándo conviene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Proyectos grandes con muchos flujos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400">
                          <a:solidFill>
                            <a:srgbClr val="FFFFFF"/>
                          </a:solidFill>
                          <a:latin typeface="Century Gothic"/>
                        </a:rPr>
                        <a:t>Proyectos pequeños o medianos, y para empezar</a:t>
                      </a:r>
                    </a:p>
                  </a:txBody>
                  <a:tcPr>
                    <a:solidFill>
                      <a:srgbClr val="0B2C5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24712" cy="329184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b="1" sz="1200">
                <a:solidFill>
                  <a:srgbClr val="FFFFFF"/>
                </a:solidFill>
                <a:latin typeface="Century Gothic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  <a:latin typeface="Century Gothic"/>
              </a:rPr>
              <a:t>Para llevar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766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36B5FF"/>
                </a:solidFill>
                <a:latin typeface="Consolas"/>
              </a:rPr>
              <a:t>npm ci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 y </a:t>
            </a:r>
            <a:r>
              <a:rPr b="0" sz="1800">
                <a:solidFill>
                  <a:srgbClr val="36B5FF"/>
                </a:solidFill>
                <a:latin typeface="Consolas"/>
              </a:rPr>
              <a:t>npm run instalar:navegador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 una vez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36B5FF"/>
                </a:solidFill>
                <a:latin typeface="Consolas"/>
              </a:rPr>
              <a:t>npm test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 para correr, </a:t>
            </a:r>
            <a:r>
              <a:rPr b="0" sz="1800">
                <a:solidFill>
                  <a:srgbClr val="36B5FF"/>
                </a:solidFill>
                <a:latin typeface="Consolas"/>
              </a:rPr>
              <a:t>npm run reporte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 para ver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36B5FF"/>
                </a:solidFill>
                <a:latin typeface="Consolas"/>
              </a:rPr>
              <a:t>await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 delante de cada acción y cada expect</a:t>
            </a:r>
          </a:p>
          <a:p>
            <a:pPr>
              <a:spcAft>
                <a:spcPts val="1200"/>
              </a:spcAft>
            </a:pPr>
            <a:r>
              <a:rPr b="1" sz="1800">
                <a:solidFill>
                  <a:srgbClr val="36B5FF"/>
                </a:solidFill>
                <a:latin typeface="Century Gothic"/>
              </a:rPr>
              <a:t>✓  </a:t>
            </a:r>
            <a:r>
              <a:rPr b="0" sz="1800">
                <a:solidFill>
                  <a:srgbClr val="FFFFFF"/>
                </a:solidFill>
                <a:latin typeface="Century Gothic"/>
              </a:rPr>
              <a:t>Una página por pantalla: cables privados, botones con nombre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737360"/>
            <a:ext cx="3962095" cy="3931920"/>
          </a:xfrm>
          <a:prstGeom prst="roundRect">
            <a:avLst>
              <a:gd name="adj" fmla="val 6000"/>
            </a:avLst>
          </a:prstGeom>
          <a:solidFill>
            <a:srgbClr val="0B2C59"/>
          </a:solidFill>
          <a:ln w="15875">
            <a:solidFill>
              <a:srgbClr val="5E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09560" y="1965960"/>
            <a:ext cx="3504895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  <a:latin typeface="Century Gothic"/>
              </a:rPr>
              <a:t>Actividad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468880"/>
            <a:ext cx="3504895" cy="3017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Agregar la mochila al carrito y revisar que el contador diga 1.</a:t>
            </a:r>
          </a:p>
          <a:p>
            <a:pPr algn="l"/>
          </a:p>
          <a:p>
            <a:pPr algn="l"/>
            <a:r>
              <a:rPr b="0" sz="1400">
                <a:solidFill>
                  <a:srgbClr val="C9D6E3"/>
                </a:solidFill>
                <a:latin typeface="Century Gothic"/>
              </a:rPr>
              <a:t>Entrega: Jueves 1 de octubre de 2026, 8:00 a.m.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b="0" sz="1200">
                <a:solidFill>
                  <a:srgbClr val="C9D6E3"/>
                </a:solidFill>
                <a:latin typeface="Century Gothic"/>
              </a:rPr>
              <a:t>Semillero QA 2026 · Clase 4 · Playwright y POM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b="0" sz="1200">
                <a:solidFill>
                  <a:srgbClr val="C9D6E3"/>
                </a:solidFill>
                <a:latin typeface="Century Gothic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Diego Zapata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