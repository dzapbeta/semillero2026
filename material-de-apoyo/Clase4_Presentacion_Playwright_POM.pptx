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6B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4000">
                <a:solidFill>
                  <a:srgbClr val="FFFFFF"/>
                </a:solidFill>
                <a:latin typeface="Century Gothic"/>
              </a:rPr>
              <a:t>Playwright y Page Object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2200">
                <a:solidFill>
                  <a:srgbClr val="36B5FF"/>
                </a:solidFill>
                <a:latin typeface="Century Gothic"/>
              </a:rPr>
              <a:t>Los mismos logins de la clase 2, con otra herramienta y otro patrón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Martes 29 de septiembre de 2026 · Diego Zapata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Lo que vamos a hacer hoy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Conocer otro framework: cómo encuentra elementos y por qué no necesita esperas a mano.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Ordenar el código con una clase por pantalla: un control remoto para cada una.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Poner POM al lado de Screenplay y decidir cuándo conviene cada uno.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Playwright en tres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Maneja 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Chromium, escribe, hace clic y lee textos desde código Java.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51578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Localizadores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1578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Encuentran elementos por texto gris, por rol y nombre, o por el atributo data-test.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737360"/>
            <a:ext cx="3545738" cy="43891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5916" y="196596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Espera solo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5916" y="2468880"/>
            <a:ext cx="3088538" cy="3474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Antes de cada acción espera a que el elemento aparezca. Si no aparece en 30 s, falla.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95681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LOCALIZADORES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Tres formas de localizar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campoUsuario = pagina.getByPlaceholder("Username");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campoClave = pagina.getByPlaceholder("Password");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botonLogin = pagina.getByRole(AriaRole.BUTTON,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new Page.GetByRoleOptions().setName("Login"));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mensajeError = pagina.locator("[data-test='error']");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getByPlaceholder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el texto gris del campo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getByRole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 botón que dice Login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locator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un atributo pensado para pruebas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Clic derecho e Inspeccionar en Chrome para ver los atributos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POM: un control remoto por pantalla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La prueba aprieta botones. Nunca toca los cables.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PaginaBase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clase padre. Guarda la pestaña y sabe navegar. Las demás la heredan.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51578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1578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Botones: abrir(), iniciarSesion(usuario, clave) y mensajeDeError()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Cables privados: los localizadores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228600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5916" y="2514600"/>
            <a:ext cx="3088538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ProductosPage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5916" y="3017520"/>
            <a:ext cx="3088538" cy="2926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Botón: titulo()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Si el login funcionó, devuelve 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Quién habla con quién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La prueba. Dice qué hacer y qué validar.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9353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25113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3713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LoginPage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3713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Traduce iniciarSesion() a escribir y hacer clic.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35826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1586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0186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Playwright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0186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Busca el elemento, espera y actúa.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12299" y="3383280"/>
            <a:ext cx="320040" cy="0"/>
          </a:xfrm>
          <a:prstGeom prst="line">
            <a:avLst/>
          </a:prstGeom>
          <a:ln w="31750">
            <a:solidFill>
              <a:srgbClr val="36B5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8059" y="2057400"/>
            <a:ext cx="2464993" cy="2651760"/>
          </a:xfrm>
          <a:prstGeom prst="roundRect">
            <a:avLst>
              <a:gd name="adj" fmla="val 6000"/>
            </a:avLst>
          </a:prstGeom>
          <a:solidFill>
            <a:srgbClr val="08264F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06659" y="2286000"/>
            <a:ext cx="2007793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Chromium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6659" y="2788920"/>
            <a:ext cx="2007793" cy="17373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Abre saucedemo.com y muestra el resultado.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109441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600">
                <a:solidFill>
                  <a:srgbClr val="C9D6E3"/>
                </a:solidFill>
                <a:latin typeface="Century Gothic"/>
              </a:rPr>
              <a:t>BaseTest abre el navegador antes de las pruebas y lo cierra al final.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Una prueba con POM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@DisplayName("Login exitoso con usuario estándar")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void loginExitoso()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LoginPage login = new LoginPage(pagina);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login.iniciarSesion("standard_user", "secret_sauce");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ProductosPage productos = new ProductosPage(pagina);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assertEquals("Products", productos.titulo());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@Test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marca el método como prueba de JUnit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@DisplayName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el nombre que ves en consola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Crear la página y apretar sus botones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assertEquals(esperado, real)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: si no son iguales, la prueba falla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243584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Data driven con @CsvSource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6949440" cy="4389120"/>
          </a:xfrm>
          <a:prstGeom prst="roundRect">
            <a:avLst>
              <a:gd name="adj" fmla="val 3000"/>
            </a:avLst>
          </a:prstGeom>
          <a:solidFill>
            <a:srgbClr val="0A1B33"/>
          </a:solidFill>
          <a:ln w="12700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2743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200">
                <a:solidFill>
                  <a:srgbClr val="36B5FF"/>
                </a:solidFill>
                <a:latin typeface="Century Gothic"/>
              </a:rPr>
              <a:t>Java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6492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  <a:latin typeface="Consolas"/>
              </a:rPr>
              <a:t>@ParameterizedTest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@CsvSource({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"'', secret_sauce, Epic sadface: Username is required",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"standard_user, '', Epic sadface: Password is required"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// y una fila más para la clave incorrecta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})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void loginInvalido(String usuario, String clave,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               String mensajeEsperado) {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LoginPage login = new LoginPage(pagina);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login.abrir();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login.iniciarSesion(usuario, clave);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    assertEquals(mensajeEsperado, login.mensajeDeError());</a:t>
            </a:r>
          </a:p>
          <a:p>
            <a:r>
              <a:rPr sz="130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737360"/>
            <a:ext cx="377921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Una prueba escrita, una ejecución por fila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Cada fila: usuario, clave y mensaje</a:t>
            </a:r>
          </a:p>
          <a:p>
            <a:pPr>
              <a:spcAft>
                <a:spcPts val="1000"/>
              </a:spcAft>
            </a:pPr>
            <a:r>
              <a:rPr b="1" sz="1600">
                <a:solidFill>
                  <a:srgbClr val="36B5FF"/>
                </a:solidFill>
                <a:latin typeface="Century Gothic"/>
              </a:rPr>
              <a:t>▸  </a:t>
            </a:r>
            <a:r>
              <a:rPr b="0" sz="1600">
                <a:solidFill>
                  <a:srgbClr val="36B5FF"/>
                </a:solidFill>
                <a:latin typeface="Consolas"/>
              </a:rPr>
              <a:t>''</a:t>
            </a:r>
            <a:r>
              <a:rPr b="0" sz="1600">
                <a:solidFill>
                  <a:srgbClr val="FFFFFF"/>
                </a:solidFill>
                <a:latin typeface="Century Gothic"/>
              </a:rPr>
              <a:t> es un campo vacío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362456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COMPARAR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POM frente a Screenplay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94413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034332"/>
                <a:gridCol w="4034332"/>
              </a:tblGrid>
              <a:tr h="502920">
                <a:tc>
                  <a:txBody>
                    <a:bodyPr/>
                    <a:lstStyle/>
                    <a:p/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Screenplay (clase 2)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POM (hoy)</a:t>
                      </a:r>
                    </a:p>
                  </a:txBody>
                  <a:tcPr>
                    <a:solidFill>
                      <a:srgbClr val="0072B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Quién hace las acciones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Un actor que ejecuta tareas (Task)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página, con sus métodos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Dónde están los localizadores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En las clases de userinterfaces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Privados dentro de cada página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Cómo se valida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Con preguntas (Question)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La página devuelve un texto y la prueba usa assertEquals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Cantidad de clases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Más clases, cada una pequeña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Pocas: una por pantalla</a:t>
                      </a:r>
                    </a:p>
                  </a:txBody>
                  <a:tcPr>
                    <a:solidFill>
                      <a:srgbClr val="08264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Century Gothic"/>
                        </a:rPr>
                        <a:t>Cuándo conviene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grandes con muchos flujos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400">
                          <a:solidFill>
                            <a:srgbClr val="FFFFFF"/>
                          </a:solidFill>
                          <a:latin typeface="Century Gothic"/>
                        </a:rPr>
                        <a:t>Proyectos pequeños o medianos, y para empezar</a:t>
                      </a:r>
                    </a:p>
                  </a:txBody>
                  <a:tcPr>
                    <a:solidFill>
                      <a:srgbClr val="0B2C5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124712" cy="329184"/>
          </a:xfrm>
          <a:prstGeom prst="roundRect">
            <a:avLst>
              <a:gd name="adj" fmla="val 50000"/>
            </a:avLst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b="1" sz="1200">
                <a:solidFill>
                  <a:srgbClr val="FFFFFF"/>
                </a:solidFill>
                <a:latin typeface="Century Gothic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2800">
                <a:solidFill>
                  <a:srgbClr val="FFFFFF"/>
                </a:solidFill>
                <a:latin typeface="Century Gothic"/>
              </a:rPr>
              <a:t>Para llevar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6766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instalarNavegadores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una vez por equipo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test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correr todo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36B5FF"/>
                </a:solidFill>
                <a:latin typeface="Consolas"/>
              </a:rPr>
              <a:t>gradle test -Dheadless=false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 para ver el navegador</a:t>
            </a:r>
          </a:p>
          <a:p>
            <a:pPr>
              <a:spcAft>
                <a:spcPts val="1200"/>
              </a:spcAft>
            </a:pPr>
            <a:r>
              <a:rPr b="1" sz="1800">
                <a:solidFill>
                  <a:srgbClr val="36B5FF"/>
                </a:solidFill>
                <a:latin typeface="Century Gothic"/>
              </a:rPr>
              <a:t>✓  </a:t>
            </a:r>
            <a:r>
              <a:rPr b="0" sz="1800">
                <a:solidFill>
                  <a:srgbClr val="FFFFFF"/>
                </a:solidFill>
                <a:latin typeface="Century Gothic"/>
              </a:rPr>
              <a:t>Localizadores privados, métodos con nombres de lo que hace una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80960" y="1737360"/>
            <a:ext cx="3962095" cy="3931920"/>
          </a:xfrm>
          <a:prstGeom prst="roundRect">
            <a:avLst>
              <a:gd name="adj" fmla="val 6000"/>
            </a:avLst>
          </a:prstGeom>
          <a:solidFill>
            <a:srgbClr val="0B2C59"/>
          </a:solidFill>
          <a:ln w="15875">
            <a:solidFill>
              <a:srgbClr val="5E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909560" y="1965960"/>
            <a:ext cx="3504895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1" sz="1800">
                <a:solidFill>
                  <a:srgbClr val="FFFFFF"/>
                </a:solidFill>
                <a:latin typeface="Century Gothic"/>
              </a:rPr>
              <a:t>Actividad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468880"/>
            <a:ext cx="3504895" cy="3017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Agregar un producto al carrito y validar que el contador diga 1.</a:t>
            </a:r>
          </a:p>
          <a:p>
            <a:pPr algn="l"/>
          </a:p>
          <a:p>
            <a:pPr algn="l"/>
            <a:r>
              <a:rPr b="0" sz="1400">
                <a:solidFill>
                  <a:srgbClr val="C9D6E3"/>
                </a:solidFill>
                <a:latin typeface="Century Gothic"/>
              </a:rPr>
              <a:t>Entrega: Jueves 1 de octubre de 2026, 8:00 a.m.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b="0" sz="1200">
                <a:solidFill>
                  <a:srgbClr val="C9D6E3"/>
                </a:solidFill>
                <a:latin typeface="Century Gothic"/>
              </a:rPr>
              <a:t>Semillero QA 2026 · Clase 4 · Playwright y POM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b="0" sz="1200">
                <a:solidFill>
                  <a:srgbClr val="C9D6E3"/>
                </a:solidFill>
                <a:latin typeface="Century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Diego Zapata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