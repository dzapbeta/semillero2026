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[9:00–9:05 · 5 min]</a:t>
            </a:r>
          </a:p>
          <a:p>
            <a:r>
              <a:t>Bienvenida. Recordar que de 8:00 a 9:00 fue la retro de la actividad 3.</a:t>
            </a:r>
          </a:p>
          <a:p>
            <a:r>
              <a:t>Mensaje clave: hoy NO cambiamos de aplicación ni de escenarios; cambiamos de framework (Playwright) y de patrón (POM) para poder comparar con Screenplay.</a:t>
            </a:r>
          </a:p>
          <a:p>
            <a:r>
              <a:t>Pedir que tengan clonada la rama 04-playwright-pom y ejecutado el comando de instalación de chromium.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[9:05–9:15 · 10 min]</a:t>
            </a:r>
          </a:p>
          <a:p>
            <a:r>
              <a:t>Leer el objetivo. Explicar que la agenda tiene 4 bloques y una pausa de 10 minutos a las 10:40.</a:t>
            </a:r>
          </a:p>
          <a:p>
            <a:r>
              <a:t>Preguntar: ¿qué fue lo más difícil de Screenplay? Anotar respuestas; volveremos a ellas en la comparación.</a:t>
            </a:r>
          </a:p>
          <a:p>
            <a:r>
              <a:t>Aclarar la decisión de lenguaje: Playwright para Java para no cambiar de lenguaje; la API es casi igual en TypeScript.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[9:15–9:30 · 15 min]</a:t>
            </a:r>
          </a:p>
          <a:p>
            <a:r>
              <a:t>No vender Playwright como 'mejor': es otra herramienta con otras ventajas.</a:t>
            </a:r>
          </a:p>
          <a:p>
            <a:r>
              <a:t>Enfatizar esperas: en Serenity usamos esperas explícitas; aquí el framework espera solo.</a:t>
            </a:r>
          </a:p>
          <a:p>
            <a:r>
              <a:t>Selenium sigue siendo el estándar W3C y tiene Grid y Appium; Playwright gana en velocidad de escritura y depuración.</a:t>
            </a:r>
          </a:p>
          <a:p>
            <a:r>
              <a:t>Pregunta al grupo: ¿cuántas veces un sleep les resolvió un fallo 'a medias'?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[9:30–9:50 · 20 min]</a:t>
            </a:r>
          </a:p>
          <a:p>
            <a:r>
              <a:t>Recorrer de izquierda a derecha mostrando BaseTest.java en el IDE: @BeforeAll crea Playwright y Browser; @BeforeEach crea contexto y página.</a:t>
            </a:r>
          </a:p>
          <a:p>
            <a:r>
              <a:t>Demo corta: ejecutar `mvn exec:java -e -Dexec.mainClass=com.microsoft.playwright.CLI -Dexec.args="install chromium"` y luego `mvn clean test -Dtest=LoginTest#loginExitoso -Dheadless=false -DslowMo=500`.</a:t>
            </a:r>
          </a:p>
          <a:p>
            <a:r>
              <a:t>Explicar que el Locator no busca al crearse: busca al usarse. Por eso no queda 'viejo'.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[9:50–10:15 · 25 min]</a:t>
            </a:r>
          </a:p>
          <a:p>
            <a:r>
              <a:t>Conectar con la clase 1: aquí aparecen los 4 pilares de POO en un proyecto real.</a:t>
            </a:r>
          </a:p>
          <a:p>
            <a:r>
              <a:t>Mostrar en el IDE: PaginaBase (abstract, protected), LoginPage (private final Locator), FabricaNavegador (switch que devuelve BrowserType), InventarioPage (tiene un EncabezadoComponent).</a:t>
            </a:r>
          </a:p>
          <a:p>
            <a:r>
              <a:t>Regla práctica: herencia para 'es un', composición para 'tiene un'.</a:t>
            </a:r>
          </a:p>
          <a:p>
            <a:r>
              <a:t>Regla de oro: las páginas no hacen aserciones; las pruebas sí.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[10:15–10:40 · 25 min]</a:t>
            </a:r>
          </a:p>
          <a:p>
            <a:r>
              <a:t>Código tomado del proyecto (se omitieron comentarios y dos atributos para que quepa).</a:t>
            </a:r>
          </a:p>
          <a:p>
            <a:r>
              <a:t>Recorrer línea por línea. Preguntar: si mañana el campo usuario cambia de placeholder, ¿cuántos archivos tocamos? Uno.</a:t>
            </a:r>
          </a:p>
          <a:p>
            <a:r>
              <a:t>Mostrar CompraTest.compraDeUnProducto: la prueba se lee como el recorrido del usuario gracias al encadenamiento.</a:t>
            </a:r>
          </a:p>
          <a:p>
            <a:r>
              <a:t>Mostrar la diferencia entre iniciarSesionCon (devuelve InventarioPage) e intentarIniciarSesionCon (devuelve LoginPage).</a:t>
            </a:r>
          </a:p>
          <a:p>
            <a:r>
              <a:t>[10:40–10:50 · PAUSA 10 min]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[10:50–11:10 · 20 min]</a:t>
            </a:r>
          </a:p>
          <a:p>
            <a:r>
              <a:t>Abrir en dos ventanas la rama 02 y la 04 con el mismo escenario (usuario bloqueado).</a:t>
            </a:r>
          </a:p>
          <a:p>
            <a:r>
              <a:t>Contar clases que intervienen en cada uno. Screenplay: más clases pequeñas y reutilizables; POM: menos clases, más directo.</a:t>
            </a:r>
          </a:p>
          <a:p>
            <a:r>
              <a:t>Riesgos: Screenplay puede ser sobre-ingeniería en proyectos pequeños; POM tiende a 'páginas Dios' cuando crece.</a:t>
            </a:r>
          </a:p>
          <a:p>
            <a:r>
              <a:t>Volver a las respuestas de '¿qué fue lo más difícil de Screenplay?' anotadas al inicio.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[11:10–11:35 · 25 min]</a:t>
            </a:r>
          </a:p>
          <a:p>
            <a:r>
              <a:t>Demo en vivo: cambiar en LoginTest.loginExitoso el texto esperado "Products" por "Productos" y ejecutar `mvn clean test -Dtest=LoginTest#loginExitoso`.</a:t>
            </a:r>
          </a:p>
          <a:p>
            <a:r>
              <a:t>Mostrar el mensaje Expected/Received en consola, la captura en target/capturas y abrir la traza con show-trace.</a:t>
            </a:r>
          </a:p>
          <a:p>
            <a:r>
              <a:t>En el visor: línea de tiempo, acción Assert en rojo, pestañas Before/After, Call log.</a:t>
            </a:r>
          </a:p>
          <a:p>
            <a:r>
              <a:t>REVERTIR el cambio al terminar la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[11:35–11:45 · 10 min]</a:t>
            </a:r>
          </a:p>
          <a:p>
            <a:r>
              <a:t>Caso real al construir el proyecto: la validación del carrito corrió mientras aún se veía el inventario (6 nombres de producto) → strict mode violation. Solución: CarritoPage.esperarQueCargue().</a:t>
            </a:r>
          </a:p>
          <a:p>
            <a:r>
              <a:t>Proxy corporativo: si la instalación falla con 'unable to get local issuer certificate', usar NODE_OPTIONS=--use-system-ca (ver README).</a:t>
            </a:r>
          </a:p>
          <a:p>
            <a:r>
              <a:t>Nunca Thread.sleep: es lento y aun así inestable.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[11:45–12:00 · 15 min]</a:t>
            </a:r>
          </a:p>
          <a:p>
            <a:r>
              <a:t>Recorrer lo aprendido en las 4 clases del módulo.</a:t>
            </a:r>
          </a:p>
          <a:p>
            <a:r>
              <a:t>Presentar la actividad 4 (documento Clase4_Actividad_Playwright_POM.docx): nivel básico + reto, rúbrica de 10 puntos.</a:t>
            </a:r>
          </a:p>
          <a:p>
            <a:r>
              <a:t>Entrega: Jueves 1 de octubre de 2026, 8:00 a.m.. Forma: repositorio propio en GitHub o .zip sin target/, más evidencia de mvn clean test en verde y una traza.</a:t>
            </a:r>
          </a:p>
          <a:p>
            <a:r>
              <a:t>Retroalimentación y cierre del módulo: Jueves 1 de octubre de 2026, 8:00 – 9:00 a.m. (y cierre del módulo 9:00–10:00).</a:t>
            </a:r>
          </a:p>
          <a:p>
            <a:r>
              <a:t>Resolver dudas finales.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6B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CLASE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4000">
                <a:solidFill>
                  <a:srgbClr val="FFFFFF"/>
                </a:solidFill>
                <a:latin typeface="Century Gothic"/>
              </a:rPr>
              <a:t>Playwright con Page Object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2200">
                <a:solidFill>
                  <a:srgbClr val="36B5FF"/>
                </a:solidFill>
                <a:latin typeface="Century Gothic"/>
              </a:rPr>
              <a:t>Los mismos flujos de SauceDemo, otro patrón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Martes 29 de septiembre de 2026 · 9:00 a.m. – 12:00 m. · Rama 04-playwright-pom · Diego Zapata — Equipo Transversal QS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CLASE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Objetivo y agenda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9:05 Playwright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Por qué Playwright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Sus cinco piezas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Instalar y ejecutar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59353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25113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3713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9:50 POM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3713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Una clase por pantalla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Código real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POO en el patrón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35826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1586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30186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10:50 Comparar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0186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POM vs Screenplay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Cuándo usar cada uno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12299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78059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406659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11:10 Ejecutar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6659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Comandos y trazas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Errores comunes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Actividad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29200"/>
            <a:ext cx="11094415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Objetivo: automatizar login y compra de SauceDemo con Playwright + POM y decidir con criterio entre POM y Screenplay. Pausa: 10:40–10:50.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con POM · Martes 29 de septiembre de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¿Por qué Playwright?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09441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2913"/>
                <a:gridCol w="4350750"/>
                <a:gridCol w="4350750"/>
              </a:tblGrid>
              <a:tr h="50292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Tema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Selenium (clases 2 y 3)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Playwright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Esperas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Explícitas que configuras tú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Auto-waiting incluido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Navegadores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Instalado + driver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Chromium, Firefox y WebKit propios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Aislamiento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Un navegador por prueba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BrowserContext liviano por prueba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Depuración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Logs y capturas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Traza: tiempo, DOM, red y consola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Madurez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Estándar W3C, ecosistema enorme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Más reciente, API moderna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con POM · Martes 29 de septiembre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Las piezas de Playwright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57400"/>
            <a:ext cx="1889699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43249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Playwright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1432499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El motor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1 por clase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84059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49819" y="2057400"/>
            <a:ext cx="1889699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078419" y="2286000"/>
            <a:ext cx="143249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Browser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78419" y="2788920"/>
            <a:ext cx="1432499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Navegador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chromium, firefox o webkit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785238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150998" y="2057400"/>
            <a:ext cx="1889699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79598" y="2286000"/>
            <a:ext cx="143249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79598" y="2788920"/>
            <a:ext cx="1432499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BrowserContext: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sesión limpia,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1 por prueba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86417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52177" y="2057400"/>
            <a:ext cx="1889699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680777" y="2286000"/>
            <a:ext cx="143249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777" y="2788920"/>
            <a:ext cx="1432499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Pestaña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Va a cada Page Object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387596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753356" y="2057400"/>
            <a:ext cx="1889699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981956" y="2286000"/>
            <a:ext cx="1432499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Locator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81956" y="2788920"/>
            <a:ext cx="1432499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Encuentra un elemento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al usarse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029200"/>
            <a:ext cx="11094415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Abrir un Browser tarda segundos; un BrowserContext, milisegundos. Por eso: navegador compartido, contexto por prueba.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con POM · Martes 29 de septiembre de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76809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POM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POM: una clase por pantalla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Herencia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PaginaBase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abstracta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navegar, escribir, clic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Todas las páginas la extienden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73736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51578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Encapsulamiento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1578" y="246888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Locators </a:t>
            </a:r>
            <a:r>
              <a:rPr b="0" sz="1400">
                <a:solidFill>
                  <a:srgbClr val="36B5FF"/>
                </a:solidFill>
                <a:latin typeface="Consolas"/>
              </a:rPr>
              <a:t>private final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La prueba no ve selectores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Un cambio, un archivo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73736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5916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Polimorfismo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5916" y="246888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BrowserType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en la fábrica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Mismo </a:t>
            </a:r>
            <a:r>
              <a:rPr b="0" sz="1400">
                <a:solidFill>
                  <a:srgbClr val="36B5FF"/>
                </a:solidFill>
                <a:latin typeface="Consolas"/>
              </a:rPr>
              <a:t>launch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chromium, firefox o webkit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4622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427482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Composición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7774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36B5FF"/>
                </a:solidFill>
                <a:latin typeface="Consolas"/>
              </a:rPr>
              <a:t>EncabezadoComponent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La página TIENE un encabezado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Inventario y carrito lo usan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978" y="404622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51578" y="427482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Encadenamiento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477774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Cada acción devuelve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la página siguiente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El IDE guía el flujo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7316" y="4046220"/>
            <a:ext cx="3545738" cy="20802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25916" y="427482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Pruebas limpias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4777740"/>
            <a:ext cx="3088538" cy="11658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Solo pasos y </a:t>
            </a:r>
            <a:r>
              <a:rPr b="0" sz="1400">
                <a:solidFill>
                  <a:srgbClr val="36B5FF"/>
                </a:solidFill>
                <a:latin typeface="Consolas"/>
              </a:rPr>
              <a:t>assertThat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Sin </a:t>
            </a:r>
            <a:r>
              <a:rPr b="0" sz="1400">
                <a:solidFill>
                  <a:srgbClr val="36B5FF"/>
                </a:solidFill>
                <a:latin typeface="Consolas"/>
              </a:rPr>
              <a:t>Thread.sleep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Páginas sin aserciones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con POM · Martes 29 de septiembre de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76809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POM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Código real: LoginPage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public class LoginPage extends PaginaBase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private final Locator campoUsuario;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private final Locator campoClave;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private final Locator botonIngresar;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public LoginPage(Page pagina)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super(pagina);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this.campoUsuario = pagina.getByPlaceholder("Username");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this.campoClave = pagina.getByTestId("password");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// ...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public InventarioPage iniciarSesionCon(Usuario usuario)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diligenciarYEnviar(usuario);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return new InventarioPage(pagina).esperarQueCargue();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}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extends PaginaBase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hereda escribir y hacerClic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Locators </a:t>
            </a:r>
            <a:r>
              <a:rPr b="0" sz="1600">
                <a:solidFill>
                  <a:srgbClr val="36B5FF"/>
                </a:solidFill>
                <a:latin typeface="Consolas"/>
              </a:rPr>
              <a:t>private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se definen una vez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Método de negocio, no de clics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Devuelve la página a la que lleva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con POM · Martes 29 de septiembre de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36245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COMPARAR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POM vs Screenplay: login bloqueado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09441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2913"/>
                <a:gridCol w="4350750"/>
                <a:gridCol w="4350750"/>
              </a:tblGrid>
              <a:tr h="50292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Responsabilidad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Screenplay (rama 02)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POM (rama 04)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Escenario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login.feature + StepDefinitions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Método de LoginTest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Localizadores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PaginaDeLogin (Target públicos)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LoginPage (Locator privados)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Quién actúa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Actor + Task IniciarSesion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La página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Validación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Question MensajeDeError + seeThat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assertThat(...).hasText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Cuándo usarlo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Suites grandes, negocio lee Gherkin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Suites pequeñas o medianas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con POM · Martes 29 de septiembre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36245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EJECUTAR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Cómo ejecutar y leer una traza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Terminal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# Todo, headless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mvn clean test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# Solo login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mvn clean test -Dgroups=login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# Verlo en cámara lenta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mvn clean test -Dheadless=false -DslowMo=500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# Otro navegador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mvn clean test -Dnavegador=firefox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# Abrir la traza de un fallo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mvn exec:java -e \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-Dexec.mainClass=com.microsoft.playwright.CLI \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-Dexec.args="show-trace target/trazas/X.zip"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Si falla: captura en </a:t>
            </a:r>
            <a:r>
              <a:rPr b="0" sz="1600">
                <a:solidFill>
                  <a:srgbClr val="36B5FF"/>
                </a:solidFill>
                <a:latin typeface="Consolas"/>
              </a:rPr>
              <a:t>target/capturas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y traza en </a:t>
            </a:r>
            <a:r>
              <a:rPr b="0" sz="1600">
                <a:solidFill>
                  <a:srgbClr val="36B5FF"/>
                </a:solidFill>
                <a:latin typeface="Consolas"/>
              </a:rPr>
              <a:t>target/trazas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La traza muestra DOM antes y después de cada paso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También: trace.playwright.dev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con POM · Martes 29 de septiembre de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231343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BUENAS PRÁCTICAS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Detalles que evitan dolores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09441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0212"/>
                <a:gridCol w="3772101"/>
                <a:gridCol w="3772101"/>
              </a:tblGrid>
              <a:tr h="50292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Síntoma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Causa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Qué hacer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Executable doesn't exist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Navegador no instalado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Ejecutar el comando install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strict mode violation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El localizador halla varios elementos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Filtrar o buscar dentro de un contenedor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Falla al cambiar el diseño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XPath largos o clases CSS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getByRole, getByText, getByTestId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Timeout 10000ms exceeded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El elemento nunca apareció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Abrir la traza; nunca Thread.sleep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unable to get local issuer certificate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Proxy corporativo al instalar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NODE_OPTIONS=--use-system-ca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con POM · Martes 29 de septiembre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Cierre del módulo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6766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Java y POO: la base de todo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Screenplay Web y API con BDD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Playwright con POM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Elegir patrón con criterio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Entregar: repo GitHub o .zip + </a:t>
            </a:r>
            <a:r>
              <a:rPr b="0" sz="1800">
                <a:solidFill>
                  <a:srgbClr val="36B5FF"/>
                </a:solidFill>
                <a:latin typeface="Consolas"/>
              </a:rPr>
              <a:t>mvn clean test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 en verde + una traza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0" y="1737360"/>
            <a:ext cx="3962095" cy="39319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09560" y="1965960"/>
            <a:ext cx="3504895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Actividad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468880"/>
            <a:ext cx="3504895" cy="3017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Ordenar, quitar del carrito, logout y checkout con </a:t>
            </a:r>
            <a:r>
              <a:rPr b="0" sz="1400">
                <a:solidFill>
                  <a:srgbClr val="36B5FF"/>
                </a:solidFill>
                <a:latin typeface="Consolas"/>
              </a:rPr>
              <a:t>@ParameterizedTest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.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 </a:t>
            </a:r>
          </a:p>
          <a:p>
            <a:pPr algn="l"/>
            <a:r>
              <a:rPr b="1" sz="1400">
                <a:solidFill>
                  <a:srgbClr val="C9D6E3"/>
                </a:solidFill>
                <a:latin typeface="Century Gothic"/>
              </a:rPr>
              <a:t>Entrega: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Jueves 1 de octubre de 2026, 8:00 a.m.</a:t>
            </a:r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 </a:t>
            </a:r>
          </a:p>
          <a:p>
            <a:pPr algn="l"/>
            <a:r>
              <a:rPr b="1" sz="1400">
                <a:solidFill>
                  <a:srgbClr val="C9D6E3"/>
                </a:solidFill>
                <a:latin typeface="Century Gothic"/>
              </a:rPr>
              <a:t>Retro:</a:t>
            </a:r>
            <a:r>
              <a:rPr b="0" sz="1400">
                <a:solidFill>
                  <a:srgbClr val="C9D6E3"/>
                </a:solidFill>
                <a:latin typeface="Century Gothic"/>
              </a:rPr>
              <a:t> Jueves 1 de octubre de 2026, 8:00 – 9:00 a.m. (y cierre del módulo 9:00–10:00)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con POM · Martes 29 de septiembre de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Semillero QA 2026 — Equipo Transversal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