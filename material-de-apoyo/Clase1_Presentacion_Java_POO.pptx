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– 0:05 · 5 min]</a:t>
            </a:r>
          </a:p>
          <a:p>
            <a:r>
              <a:t>Bienvenida. Presentarse y contar en una frase por qué empezamos por Java: Serenity, Screenplay y Playwright (clases 2 a 4) son código orientado a objetos. Si no entendemos clases, herencia y polimorfismo, los frameworks se vuelven magia.</a:t>
            </a:r>
          </a:p>
          <a:p>
            <a:r>
              <a:t>Pedir que abran la terminal y ejecuten 'java -version' y 'mvn -v' mientras hablamos. Quien tenga error, lo anotamos y lo resolvemos en la pausa.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 – 0:15 · 10 min]</a:t>
            </a:r>
          </a:p>
          <a:p>
            <a:r>
              <a:t>Leer el objetivo en voz alta. Recalcar los tres verbos: LEER, EJECUTAR y MODIFICAR.</a:t>
            </a:r>
          </a:p>
          <a:p>
            <a:r>
              <a:t>Agenda sugerida: 01 Variables y control (9:15 – 9:50) · 02 Clases y encapsulamiento (9:50 – 10:20) · pausa de 10 min · 03 Herencia y polimorfismo (10:30 – 11:05) · 04 Código real, puente a automatización, ejecución y actividad (11:05 – 12:00).</a:t>
            </a:r>
          </a:p>
          <a:p>
            <a:r>
              <a:t>Pedir que clonen el repositorio y hagan 'git switch 01-fundamentos-java-poo'. Lanzar 'mvn clean verify' ahora: la primera vez descarga dependencias y tarda.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– 0:50 · 35 min]</a:t>
            </a:r>
          </a:p>
          <a:p>
            <a:r>
              <a:t>1) Abrir TiposDeDatos.java. Mostrar los 8 primitivos en demostrar(). Preguntar: ¿qué imprime 7 / 2? Dejar que respondan y luego ejecutar la demo (mvn -q compile exec:java).</a:t>
            </a:r>
          </a:p>
          <a:p>
            <a:r>
              <a:t>2) Error estrella: == vs equals con String. Mostrar mismoTexto y su prueba.</a:t>
            </a:r>
          </a:p>
          <a:p>
            <a:r>
              <a:t>3) EstructurasDeControl.java: clasificarSeveridad (if), describirResultado (switch expression), ejecutarConReintentos (while) y esperarCargaDePagina (do-while: al menos una vez).</a:t>
            </a:r>
          </a:p>
          <a:p>
            <a:r>
              <a:t>4) Colecciones.java: List filtra, Map cuenta, Set elimina repetidos.</a:t>
            </a:r>
          </a:p>
          <a:p>
            <a:r>
              <a:t>Ejercicio en vivo (5 min): que cambien el umbral de ALTA (impacto &gt;= 7) a 8 y ejecuten 'mvn test -Dtest=EstructurasDeControlTest'. Verán la prueba parametrizada fallar: así se lee un reporte.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 – 1:20 · 30 min]</a:t>
            </a:r>
          </a:p>
          <a:p>
            <a:r>
              <a:t>1) Abrir CasoDePrueba.java. Señalar: atributos private, constructor con validaciones, getters sin setters.</a:t>
            </a:r>
          </a:p>
          <a:p>
            <a:r>
              <a:t>2) Preguntar: ¿qué pasaría si 'estado' fuera public? Respuesta: cualquiera podría poner EXITOSO a un caso bloqueado. Por eso existe registrarEjecucion(boolean), que valida.</a:t>
            </a:r>
          </a:p>
          <a:p>
            <a:r>
              <a:t>3) Mostrar getPasos() con Collections.unmodifiableList y la prueba pasosSonDeSoloLectura.</a:t>
            </a:r>
          </a:p>
          <a:p>
            <a:r>
              <a:t>4) Enums EstadoCaso y Severidad: lista cerrada de valores, con atributos (nivel).</a:t>
            </a:r>
          </a:p>
          <a:p>
            <a:r>
              <a:t>5) Defecto 'tiene un' CasoDePrueba (asociación).</a:t>
            </a:r>
          </a:p>
          <a:p>
            <a:r>
              <a:t>Ejercicio (5 min): crear en App un caso con id 'caso1' y ver la excepción.</a:t>
            </a:r>
          </a:p>
          <a:p>
            <a:r>
              <a:t>[1:20 – 1:30 · PAUSA 10 min] Resolver problemas de instalación pendientes.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– 2:05 · 35 min]</a:t>
            </a:r>
          </a:p>
          <a:p>
            <a:r>
              <a:t>1) Navegador.java: clase abstract, método abstracto nombreDelDriver(), método protected validarUrl().</a:t>
            </a:r>
          </a:p>
          <a:p>
            <a:r>
              <a:t>2) Chrome agrega incógnito y reutiliza describir() con super. Firefox sobrescribe abrir() con super.abrir(url). Edge endurece validarUrl (solo https). Mostrar NavegadorTest.edgeExigeHttps.</a:t>
            </a:r>
          </a:p>
          <a:p>
            <a:r>
              <a:t>3) Preguntar: ¿por qué no compila new Navegador(...)? Porque es una idea general (abstract).</a:t>
            </a:r>
          </a:p>
          <a:p>
            <a:r>
              <a:t>4) Ejecutable (interfaz) + PruebaWeb, PruebaApi, PruebaMovil. El EjecutorDePruebas no sabe qué tipo recibe: eso es polimorfismo. Agregar un tipo nuevo no obliga a tocar el ejecutor.</a:t>
            </a:r>
          </a:p>
          <a:p>
            <a:r>
              <a:t>5) Reportero: cuatro métodos formatear = sobrecarga. Contrastar con @Override.</a:t>
            </a:r>
          </a:p>
          <a:p>
            <a:r>
              <a:t>Ejercicio (7 min): en parejas, explicar con sus palabras la diferencia entre sobrecarga y sobrescritura.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– 2:20 · 15 min]</a:t>
            </a:r>
          </a:p>
          <a:p>
            <a:r>
              <a:t>Leer el código línea por línea. Preguntar antes de revelar: cuando el ciclo llega a la PruebaApi, ¿qué ejecutar() se corre? La de PruebaApi, aunque la variable sea de tipo Ejecutable.</a:t>
            </a:r>
          </a:p>
          <a:p>
            <a:r>
              <a:t>Ejecutar la demo y señalar la sección '3. Polimorfismo' de la consola: PASÓ/FALLÓ con la descripción propia de cada tipo ([Web · Chrome], [PruebaApi]...).</a:t>
            </a:r>
          </a:p>
          <a:p>
            <a:r>
              <a:t>Adelantar la actividad: van a crear PruebaDeRendimiento implements Ejecutable y agregarla a esta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[2:20 – 2:30 · 10 min]</a:t>
            </a:r>
          </a:p>
          <a:p>
            <a:r>
              <a:t>Abrir PaginaLogin.java y PaginaLoginTest.java. Mostrar que la prueba no conoce '#usuario' ni '#clave': solo llama iniciarSesion y obtenerMensaje. Si cambia un localizador, se corrige en un solo lugar.</a:t>
            </a:r>
          </a:p>
          <a:p>
            <a:r>
              <a:t>Relacionar cada caja con lo que viene: POM (clase 4, Playwright) usa clases por página; Screenplay (clases 2 y 3, Serenity) reparte la lógica en Tareas, Interacciones y Preguntas, que son clases e interfaces.</a:t>
            </a:r>
          </a:p>
          <a:p>
            <a:r>
              <a:t>Mensaje clave: los frameworks cambian, la POO se queda.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[2:30 – 2:45 · 15 min]</a:t>
            </a:r>
          </a:p>
          <a:p>
            <a:r>
              <a:t>Todos ejecutan los tres comandos. Verificar que cada persona ve 'Tests run: 58, Failures: 0'.</a:t>
            </a:r>
          </a:p>
          <a:p>
            <a:r>
              <a:t>Luego romper algo a propósito: cambiar un valor esperado en una prueba, ejecutar esa sola clase con -Dtest y abrir target/surefire-reports/&lt;clase&gt;.txt. Leer juntos &lt;&lt;&lt; FAILURE!, expected, but was y el número de línea.</a:t>
            </a:r>
          </a:p>
          <a:p>
            <a:r>
              <a:t>Desde IntelliJ: abrir el pom.xml como proyecto; clic derecho en src/test/java → Run 'All Tests'.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 – 2:52 · 7 min]</a:t>
            </a:r>
          </a:p>
          <a:p>
            <a:r>
              <a:t>Recorrer la tabla preguntando quién ya se topó con alguno de estos errores hoy.</a:t>
            </a:r>
          </a:p>
          <a:p>
            <a:r>
              <a:t>Recordar dos buenas prácticas: siempre @Override al sobrescribir, y no crear setters 'por si acaso'.</a:t>
            </a:r>
          </a:p>
          <a:p>
            <a:r>
              <a:t>El README de la rama tiene la tabla completa de errores y soluciones.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 – 3:00 · 8 min]</a:t>
            </a:r>
          </a:p>
          <a:p>
            <a:r>
              <a:t>Resumir los seis puntos en voz alta.</a:t>
            </a:r>
          </a:p>
          <a:p>
            <a:r>
              <a:t>Abrir material-de-apoyo/Clase1_Actividad_Java_POO.docx y mostrar la rúbrica (10.0 puntos) y el checklist.</a:t>
            </a:r>
          </a:p>
          <a:p>
            <a:r>
              <a:t>Repetir la fecha exacta: Miércoles 23 de septiembre de 2026, 8:00 a.m.. La retroalimentación es Miércoles 23 de septiembre de 2026, 8:00 – 9:00 a.m., antes de la clase 2.</a:t>
            </a:r>
          </a:p>
          <a:p>
            <a:r>
              <a:t>Cerrar con preguntas. Recordar que la guía de estudio tiene autoevaluación con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4000">
                <a:solidFill>
                  <a:srgbClr val="FFFFFF"/>
                </a:solidFill>
                <a:latin typeface="Century Gothic"/>
              </a:rPr>
              <a:t>Fundamentos de Java y POO para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2200">
                <a:solidFill>
                  <a:srgbClr val="36B5FF"/>
                </a:solidFill>
                <a:latin typeface="Century Gothic"/>
              </a:rPr>
              <a:t>La base de todo framework de pruebas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Lunes 21 de septiembre de 2026 · 9:00 a.m. – 12:00 m.</a:t>
            </a:r>
          </a:p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Diego Zapata — Equipo Transversal QS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3 HORAS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Objetivo y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Leer, ejecutar y modificar un proyecto Java con Maven entendiendo la POO que usan los frameworks.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Arranque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9:00 – 9:15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Objetivo y entorno listo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java -version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y </a:t>
            </a:r>
            <a:r>
              <a:rPr b="0" sz="1400">
                <a:solidFill>
                  <a:srgbClr val="36B5FF"/>
                </a:solidFill>
                <a:latin typeface="Consolas"/>
              </a:rPr>
              <a:t>mvn -v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51578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Variables y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9:15 – 9:50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Tipos, casting, if, switch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Ciclos y colecciones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25916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Clases y objetos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9:50 – 10:20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Encapsulamiento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Constructores que validan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Pausa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10:20 – 10:30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Resolver instalaciones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pendientes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51578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Herencia y polimorfismo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10:30 – 11:05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extends, super, interfaces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Sobrecarga vs. sobrescritura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7316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325916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Código y actividad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11:05 – 12:00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Page Object simulado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Ejecutar y entregar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Variables y estructuras de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Analogía: un caso de prueba es un formulario; cada campo acepta un solo tipo de dato.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Tipos primitivos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int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casos ejecutados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long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duración en ms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boolean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¿ambiente arriba?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51578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String y final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Texto inmutable: </a:t>
            </a:r>
            <a:r>
              <a:rPr b="0" sz="1400">
                <a:solidFill>
                  <a:srgbClr val="36B5FF"/>
                </a:solidFill>
                <a:latin typeface="Consolas"/>
              </a:rPr>
              <a:t>trim()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Comparar con </a:t>
            </a:r>
            <a:r>
              <a:rPr b="0" sz="1400">
                <a:solidFill>
                  <a:srgbClr val="36B5FF"/>
                </a:solidFill>
                <a:latin typeface="Consolas"/>
              </a:rPr>
              <a:t>equals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final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= constante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25916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Casting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long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→ </a:t>
            </a:r>
            <a:r>
              <a:rPr b="0" sz="1400">
                <a:solidFill>
                  <a:srgbClr val="36B5FF"/>
                </a:solidFill>
                <a:latin typeface="Consolas"/>
              </a:rPr>
              <a:t>double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: solo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(int) 87.9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da 87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Corta, no redondea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Decidir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if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: impacto ≥ 9 → CRITICA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switch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: "F" → Falló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Dato inválido → excepción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51578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Repetir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for-each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: contar fallidos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while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: reintentar flaky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do-while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: al menos 1 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7316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325916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Agrupar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List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: casos del ciclo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Set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: defectos sin repetir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Map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: estado → cantidad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Clases, objetos y encapsulamiento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Analogía: la plantilla del caso en la herramienta de gestión es la clase; CP-001 es el objeto.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Clase = plantilla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CasoDePrueba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define lo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que tiene todo caso: id,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título, pasos y estado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51578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Objeto = caso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Se crea con </a:t>
            </a:r>
            <a:r>
              <a:rPr b="0" sz="1400">
                <a:solidFill>
                  <a:srgbClr val="36B5FF"/>
                </a:solidFill>
                <a:latin typeface="Consolas"/>
              </a:rPr>
              <a:t>new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CP-001 y CP-002 son dos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objetos de una misma clase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25916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Constructor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Puerta de entrada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Id inválido → excepción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El objeto no nace roto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Encapsulamiento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Atributos </a:t>
            </a:r>
            <a:r>
              <a:rPr b="0" sz="1400">
                <a:solidFill>
                  <a:srgbClr val="36B5FF"/>
                </a:solidFill>
                <a:latin typeface="Consolas"/>
              </a:rPr>
              <a:t>private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Solo métodos que validan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cambian el estado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51578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Getters sin setters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getEstado()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solo lee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Pasos de solo lectura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Nada de setters "por si acaso"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7316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325916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enum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EstadoCaso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, </a:t>
            </a:r>
            <a:r>
              <a:rPr b="0" sz="1400">
                <a:solidFill>
                  <a:srgbClr val="36B5FF"/>
                </a:solidFill>
                <a:latin typeface="Consolas"/>
              </a:rPr>
              <a:t>Severidad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Lista cerrada de valores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Sin errores de digitación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Herencia y polimorfismo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Analogía: todo navegador abre URLs; cada uno usa su propio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Herencia = ES 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Chrome extends Navegador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Lo común se escribe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una vez, en el padre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51578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abstract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Navegador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no se instancia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nombreDelDriver()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sin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cuerpo: cada hija lo define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228600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25916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super y @Override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301752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super(...)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llama al padre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super.abrir(url)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reutiliza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@Override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redefine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Interfaz = contrato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Ejecutable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exige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getNombre()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y </a:t>
            </a:r>
            <a:r>
              <a:rPr b="0" sz="1400">
                <a:solidFill>
                  <a:srgbClr val="36B5FF"/>
                </a:solidFill>
                <a:latin typeface="Consolas"/>
              </a:rPr>
              <a:t>ejecutar()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Web, API y móvil cumplen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51578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Polimorfismo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List&lt;Ejecutable&gt;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mezcla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tipos; </a:t>
            </a:r>
            <a:r>
              <a:rPr b="0" sz="1400">
                <a:solidFill>
                  <a:srgbClr val="36B5FF"/>
                </a:solidFill>
                <a:latin typeface="Consolas"/>
              </a:rPr>
              <a:t>ejecutar()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corre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versión del objeto real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7316" y="4320540"/>
            <a:ext cx="3545738" cy="180594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325916" y="454914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Sobrecarga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5052060"/>
            <a:ext cx="3088538" cy="8915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4 métodos </a:t>
            </a:r>
            <a:r>
              <a:rPr b="0" sz="1400">
                <a:solidFill>
                  <a:srgbClr val="36B5FF"/>
                </a:solidFill>
                <a:latin typeface="Consolas"/>
              </a:rPr>
              <a:t>formatear(...)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con otros parámetros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Se decide al compilar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CÓDIGO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Polimorfismo en el código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 · extracto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// EjecutorDePruebas.java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for (Ejecutable prueba : pruebas)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boolean paso = prueba.ejecutar(); // &lt;- llamada polimórfica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bitacora.add((paso ? "PASÓ  " : "FALLÓ ") + prueba.describir());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...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// PruebaApi.java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@Override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public boolean ejecutar()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codigoEsperado == codigoObtenido;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// PruebaMovil.java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@Override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public boolean ejecutar()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elementoVisible;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La lista es del tipo </a:t>
            </a:r>
            <a:r>
              <a:rPr b="1" sz="1600">
                <a:solidFill>
                  <a:srgbClr val="FFFFFF"/>
                </a:solidFill>
                <a:latin typeface="Century Gothic"/>
              </a:rPr>
              <a:t>interfaz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acepta cualquier prueba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prueba.ejecutar()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corre la versión </a:t>
            </a:r>
            <a:r>
              <a:rPr b="1" sz="1600">
                <a:solidFill>
                  <a:srgbClr val="FFFFFF"/>
                </a:solidFill>
                <a:latin typeface="Century Gothic"/>
              </a:rPr>
              <a:t>del objeto real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Un tipo nuevo de prueba </a:t>
            </a:r>
            <a:r>
              <a:rPr b="1" sz="1600">
                <a:solidFill>
                  <a:srgbClr val="FFFFFF"/>
                </a:solidFill>
                <a:latin typeface="Century Gothic"/>
              </a:rPr>
              <a:t>no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obliga a cambiar el ciclo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La lista mixta está en </a:t>
            </a:r>
            <a:r>
              <a:rPr b="0" sz="1600">
                <a:solidFill>
                  <a:srgbClr val="36B5FF"/>
                </a:solidFill>
                <a:latin typeface="Consolas"/>
              </a:rPr>
              <a:t>App.java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POO en automatización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Encapsular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Localizadores </a:t>
            </a:r>
            <a:r>
              <a:rPr b="0" sz="1400">
                <a:solidFill>
                  <a:srgbClr val="36B5FF"/>
                </a:solidFill>
                <a:latin typeface="Consolas"/>
              </a:rPr>
              <a:t>private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dentro del Page Object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prueba no los ve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Si cambia un id, se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corrige en un lugar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9353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5113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3713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Heredar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713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PaginaLogin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extends PaginaBase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Escribir, clic y leer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se programan una vez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para todas las páginas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582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1586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0186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Polimorfismo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0186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Tareas e interacciones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cumplen el mismo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contrato (Screenplay)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El actor ejecuta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cualquiera igual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1229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78059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06659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Probar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6659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prueba habla de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negocio: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iniciarSesion(...)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y verifica con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obtenerMensaje()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Hoy lo simulamos sin navegador en el paquete </a:t>
            </a:r>
            <a:r>
              <a:rPr b="0" sz="1600">
                <a:solidFill>
                  <a:srgbClr val="36B5FF"/>
                </a:solidFill>
                <a:latin typeface="Consolas"/>
              </a:rPr>
              <a:t>paginas</a:t>
            </a:r>
            <a:r>
              <a:rPr b="0" sz="1600">
                <a:solidFill>
                  <a:srgbClr val="C9D6E3"/>
                </a:solidFill>
                <a:latin typeface="Century Gothic"/>
              </a:rPr>
              <a:t>. En las clases 2 y 3 (Screenplay) y 4 (POM) será un navegador real.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MANOS A LA OBRA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Cómo ejecutar el proyecto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# Verificar el entorno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java -version &amp;&amp; mvn -v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git switch 01-fundamentos-java-poo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Todas las pruebas (58) -&gt; BUILD SUCCESS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mvn clean verify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Una sola clase de pruebas / un solo método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mvn test -Dtest=CasoDePruebaTest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mvn test "-Dtest=CasoDePruebaTest#casoBloqueadoNoSeEjecuta"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La demo por consola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mvn -q compile exec:java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Reportes de las pruebas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target/surefire-reports/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Ejecuta en la carpeta donde está </a:t>
            </a:r>
            <a:r>
              <a:rPr b="0" sz="1600">
                <a:solidFill>
                  <a:srgbClr val="36B5FF"/>
                </a:solidFill>
                <a:latin typeface="Consolas"/>
              </a:rPr>
              <a:t>pom.xml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La primera vez Maven descarga librerías: tarda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Si falla, abre el </a:t>
            </a:r>
            <a:r>
              <a:rPr b="0" sz="1600">
                <a:solidFill>
                  <a:srgbClr val="36B5FF"/>
                </a:solidFill>
                <a:latin typeface="Consolas"/>
              </a:rPr>
              <a:t>.txt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y lee </a:t>
            </a:r>
            <a:r>
              <a:rPr b="0" sz="1600">
                <a:solidFill>
                  <a:srgbClr val="36B5FF"/>
                </a:solidFill>
                <a:latin typeface="Consolas"/>
              </a:rPr>
              <a:t>expected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/ </a:t>
            </a:r>
            <a:r>
              <a:rPr b="0" sz="1600">
                <a:solidFill>
                  <a:srgbClr val="36B5FF"/>
                </a:solidFill>
                <a:latin typeface="Consolas"/>
              </a:rPr>
              <a:t>but was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1" sz="1600">
                <a:solidFill>
                  <a:srgbClr val="FFFFFF"/>
                </a:solidFill>
                <a:latin typeface="Century Gothic"/>
              </a:rPr>
              <a:t>Failures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la aserción no se cumplió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1" sz="1600">
                <a:solidFill>
                  <a:srgbClr val="FFFFFF"/>
                </a:solidFill>
                <a:latin typeface="Century Gothic"/>
              </a:rPr>
              <a:t>Errors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excepción no esperada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OJO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Detalles importantes y errores comunes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3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4332"/>
                <a:gridCol w="3025749"/>
                <a:gridCol w="4034332"/>
              </a:tblGrid>
              <a:tr h="5029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Síntoma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Causa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Solución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36B5FF"/>
                          </a:solidFill>
                          <a:latin typeface="Consolas"/>
                        </a:rPr>
                        <a:t>==</a:t>
                      </a:r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 entre textos da false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Compara referencias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Usar </a:t>
                      </a:r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equals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36B5FF"/>
                          </a:solidFill>
                          <a:latin typeface="Consolas"/>
                        </a:rPr>
                        <a:t>release version 17 not supported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JDK menor a 17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Instalar JDK 17 o 21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No compila </a:t>
                      </a:r>
                      <a:r>
                        <a:rPr b="1" sz="1400">
                          <a:solidFill>
                            <a:srgbClr val="36B5FF"/>
                          </a:solidFill>
                          <a:latin typeface="Consolas"/>
                        </a:rPr>
                        <a:t>new Navegador(...)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La clase es abstract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Instanciar una hija: </a:t>
                      </a:r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new Chrome(...)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36B5FF"/>
                          </a:solidFill>
                          <a:latin typeface="Consolas"/>
                        </a:rPr>
                        <a:t>No tests matching pattern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Nombre mal escrito en -Dtest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Nombre exacto de la clase, sin .java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IntelliJ marca todo en rojo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No se abrió como proyecto Maven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Abrir </a:t>
                      </a:r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pom.xml</a:t>
                      </a:r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 como proyecto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Olvidar </a:t>
                      </a:r>
                      <a:r>
                        <a:rPr b="1" sz="1400">
                          <a:solidFill>
                            <a:srgbClr val="36B5FF"/>
                          </a:solidFill>
                          <a:latin typeface="Consolas"/>
                        </a:rPr>
                        <a:t>@Override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Un error de nombre crea otro método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Poner siempre </a:t>
                      </a:r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@Override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Ciclo </a:t>
                      </a:r>
                      <a:r>
                        <a:rPr b="1" sz="1400">
                          <a:solidFill>
                            <a:srgbClr val="36B5FF"/>
                          </a:solidFill>
                          <a:latin typeface="Consolas"/>
                        </a:rPr>
                        <a:t>while</a:t>
                      </a:r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 infinito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Nada cambia la condición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Actualizar el contador en el ciclo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Resumen y actividad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Tipos, control de flujo y colecciones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Clases que protegen sus reglas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Herencia para reutilizar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Interfaces para código flexible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Pruebas JUnit que lo demuestran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Reportes de surefire para leer fallas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Actividad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Extender el proyecto: nuevas clases, jerarquía, validaciones y pruebas JUnit propias.</a:t>
            </a:r>
          </a:p>
          <a:p>
            <a:pPr algn="l"/>
            <a:r>
              <a:rPr b="1" sz="1400">
                <a:solidFill>
                  <a:srgbClr val="C9D6E3"/>
                </a:solidFill>
                <a:latin typeface="Century Gothic"/>
              </a:rPr>
              <a:t>Entrega: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Miércoles 23 de septiembre de 2026, 8:00 a.m.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Link a tu repo de GitHub (o .zip) + evidencia de </a:t>
            </a:r>
            <a:r>
              <a:rPr b="0" sz="1400">
                <a:solidFill>
                  <a:srgbClr val="36B5FF"/>
                </a:solidFill>
                <a:latin typeface="Consolas"/>
              </a:rPr>
              <a:t>mvn clean verify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en verde.</a:t>
            </a:r>
          </a:p>
          <a:p>
            <a:pPr algn="l"/>
            <a:r>
              <a:rPr b="1" sz="1400">
                <a:solidFill>
                  <a:srgbClr val="C9D6E3"/>
                </a:solidFill>
                <a:latin typeface="Century Gothic"/>
              </a:rPr>
              <a:t>Retro: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Miércoles 23 de septiembre de 2026, 8:00 – 9:00 a.m.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Rúbrica de 10.0 puntos y checklist en el Word de la actividad.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Semillero QA 2026 — Equipo Transversal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