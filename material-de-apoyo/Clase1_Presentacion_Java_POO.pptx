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6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entury Gothic"/>
              </a:rPr>
              <a:t>Fundamentos de Java y POO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200" b="0">
                <a:solidFill>
                  <a:srgbClr val="36B5FF"/>
                </a:solidFill>
                <a:latin typeface="Century Gothic"/>
              </a:rPr>
              <a:t>Lo que necesitas saber antes de automatizar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0">
                <a:solidFill>
                  <a:srgbClr val="C9D6E3"/>
                </a:solidFill>
                <a:latin typeface="Century Gothic"/>
              </a:rPr>
              <a:t>Lunes 21 de septiembre de 2026, 9:00 a.m. – 12:00 m.</a:t>
            </a:r>
          </a:p>
          <a:p>
            <a:pPr algn="l"/>
            <a:r>
              <a:rPr sz="1600" b="0">
                <a:solidFill>
                  <a:srgbClr val="C9D6E3"/>
                </a:solidFill>
                <a:latin typeface="Century Gothic"/>
              </a:rPr>
              <a:t>Diego Zapata (Equipo Transversal QS)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5232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  <a:latin typeface="Century Gothic"/>
              </a:rPr>
              <a:t>Pla</a:t>
            </a:r>
            <a:r>
              <a:rPr lang="es-419" sz="2800" b="1" dirty="0">
                <a:solidFill>
                  <a:srgbClr val="FFFFFF"/>
                </a:solidFill>
                <a:latin typeface="Century Gothic"/>
              </a:rPr>
              <a:t>n</a:t>
            </a:r>
            <a:endParaRPr sz="2800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entury Gothic"/>
              </a:rPr>
              <a:t>9:00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11658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Entorno listo</a:t>
            </a:r>
          </a:p>
          <a:p>
            <a:pPr algn="l"/>
            <a:r>
              <a:rPr sz="1400" b="0">
                <a:solidFill>
                  <a:srgbClr val="36B5FF"/>
                </a:solidFill>
                <a:latin typeface="Consolas"/>
              </a:rPr>
              <a:t>gradle run</a:t>
            </a:r>
            <a:r>
              <a:rPr sz="1400" b="0">
                <a:solidFill>
                  <a:srgbClr val="C9D6E3"/>
                </a:solidFill>
                <a:latin typeface="Century Gothic"/>
              </a:rPr>
              <a:t> por primera vez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entury Gothic"/>
              </a:rPr>
              <a:t>9:20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11658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Variables</a:t>
            </a:r>
          </a:p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if, switch y ciclos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entury Gothic"/>
              </a:rPr>
              <a:t>10:00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11658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Clases y objetos</a:t>
            </a:r>
          </a:p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Encapsulamiento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274820"/>
            <a:ext cx="3088538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entury Gothic"/>
              </a:rPr>
              <a:t>10:40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77740"/>
            <a:ext cx="3088538" cy="11658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Pausa</a:t>
            </a:r>
          </a:p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15 minutos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51578" y="4274820"/>
            <a:ext cx="3088538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entury Gothic"/>
              </a:rPr>
              <a:t>10:55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4777740"/>
            <a:ext cx="3088538" cy="5232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 dirty="0">
                <a:solidFill>
                  <a:srgbClr val="C9D6E3"/>
                </a:solidFill>
                <a:latin typeface="Century Gothic"/>
              </a:rPr>
              <a:t>Herencia</a:t>
            </a:r>
          </a:p>
          <a:p>
            <a:pPr algn="l"/>
            <a:endParaRPr sz="1400" b="0" dirty="0">
              <a:solidFill>
                <a:srgbClr val="C9D6E3"/>
              </a:solidFill>
              <a:latin typeface="Century Goth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200" b="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  <a:latin typeface="Century Gothic"/>
              </a:rPr>
              <a:t>Una variable es </a:t>
            </a:r>
            <a:r>
              <a:rPr sz="2800" b="1" dirty="0" err="1">
                <a:solidFill>
                  <a:srgbClr val="FFFFFF"/>
                </a:solidFill>
                <a:latin typeface="Century Gothic"/>
              </a:rPr>
              <a:t>una</a:t>
            </a:r>
            <a:r>
              <a:rPr sz="2800" b="1" dirty="0">
                <a:solidFill>
                  <a:srgbClr val="FFFFFF"/>
                </a:solidFill>
                <a:latin typeface="Century Gothic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Century Gothic"/>
              </a:rPr>
              <a:t>caja</a:t>
            </a:r>
            <a:r>
              <a:rPr sz="2800" b="1" dirty="0">
                <a:solidFill>
                  <a:srgbClr val="FFFFFF"/>
                </a:solidFill>
                <a:latin typeface="Century Gothic"/>
              </a:rPr>
              <a:t> con </a:t>
            </a:r>
            <a:r>
              <a:rPr sz="2800" b="1" dirty="0" err="1">
                <a:solidFill>
                  <a:srgbClr val="FFFFFF"/>
                </a:solidFill>
                <a:latin typeface="Century Gothic"/>
              </a:rPr>
              <a:t>etiqueta</a:t>
            </a:r>
            <a:endParaRPr sz="2800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FFFFFF"/>
                </a:solidFill>
                <a:latin typeface="Consolas"/>
              </a:rPr>
              <a:t>int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edad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= 20;</a:t>
            </a:r>
          </a:p>
          <a:p>
            <a:r>
              <a:rPr sz="1300" dirty="0">
                <a:solidFill>
                  <a:srgbClr val="FFFFFF"/>
                </a:solidFill>
                <a:latin typeface="Consolas"/>
              </a:rPr>
              <a:t>double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precio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= 15500.50;</a:t>
            </a:r>
          </a:p>
          <a:p>
            <a:r>
              <a:rPr sz="1300" dirty="0" err="1">
                <a:solidFill>
                  <a:srgbClr val="FFFFFF"/>
                </a:solidFill>
                <a:latin typeface="Consolas"/>
              </a:rPr>
              <a:t>boolean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estaActivo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= true;</a:t>
            </a:r>
          </a:p>
          <a:p>
            <a:r>
              <a:rPr sz="1300" dirty="0">
                <a:solidFill>
                  <a:srgbClr val="FFFFFF"/>
                </a:solidFill>
                <a:latin typeface="Consolas"/>
              </a:rPr>
              <a:t>char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inicial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= 'D';</a:t>
            </a:r>
          </a:p>
          <a:p>
            <a:r>
              <a:rPr sz="1300" dirty="0">
                <a:solidFill>
                  <a:srgbClr val="FFFFFF"/>
                </a:solidFill>
                <a:latin typeface="Consolas"/>
              </a:rPr>
              <a:t>String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nombre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= "Diego";</a:t>
            </a:r>
          </a:p>
          <a:p>
            <a:r>
              <a:rPr sz="13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 dirty="0">
                <a:solidFill>
                  <a:srgbClr val="FFFFFF"/>
                </a:solidFill>
                <a:latin typeface="Consolas"/>
              </a:rPr>
              <a:t>int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edadEnCincoAnios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edad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+ 5;</a:t>
            </a:r>
          </a:p>
          <a:p>
            <a:r>
              <a:rPr sz="1300" dirty="0">
                <a:solidFill>
                  <a:srgbClr val="FFFFFF"/>
                </a:solidFill>
                <a:latin typeface="Consolas"/>
              </a:rPr>
              <a:t>String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saludo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 = "Hola, " + </a:t>
            </a:r>
            <a:r>
              <a:rPr sz="1300" dirty="0" err="1">
                <a:solidFill>
                  <a:srgbClr val="FFFFFF"/>
                </a:solidFill>
                <a:latin typeface="Consolas"/>
              </a:rPr>
              <a:t>nombre</a:t>
            </a:r>
            <a:r>
              <a:rPr sz="1300" dirty="0">
                <a:solidFill>
                  <a:srgbClr val="FFFFFF"/>
                </a:solidFill>
                <a:latin typeface="Consolas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El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tipo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va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primero: dice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qué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cabe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en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la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caja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1" dirty="0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Cada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instrucción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termina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en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</a:t>
            </a:r>
            <a:r>
              <a:rPr sz="1600" b="0" dirty="0">
                <a:solidFill>
                  <a:srgbClr val="36B5FF"/>
                </a:solidFill>
                <a:latin typeface="Consolas"/>
              </a:rPr>
              <a:t>;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1" dirty="0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 dirty="0">
                <a:solidFill>
                  <a:srgbClr val="36B5FF"/>
                </a:solidFill>
                <a:latin typeface="Consolas"/>
              </a:rPr>
              <a:t>+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suma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números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y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pega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entury Gothic"/>
              </a:rPr>
              <a:t>textos</a:t>
            </a:r>
            <a:r>
              <a:rPr sz="1600" b="0" dirty="0">
                <a:solidFill>
                  <a:srgbClr val="FFFFFF"/>
                </a:solidFill>
                <a:latin typeface="Century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200" b="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El programa toma decisiones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if (nota &gt;= NOTA_MINIMA)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"Aprobado";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 else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"Reprobado";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switch (color)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case "verde":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"Siga";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case "amarillo":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"Despacio";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...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if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una pregunta de sí o no.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&gt;=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 es mayor o igual: 3.0 aprueba.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switch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varias opciones, como un semáforo.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default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lo que no está en la lista.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200" b="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Repetir sin copiar y pegar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for (int i = 1; i &lt;= 5; i++)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System.out.println("Vuelta numero " + i);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int intento = 1;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while (intento &lt;= 3)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System.out.println("Intento de login " + intento);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intento++;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for (String nombre : nombres)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System.out.println("Hola, " + nombre);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for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sé cuántas vueltas quiero.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while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repito mientras algo sea cierto.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for-each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recorro una lista completa.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200" b="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TEMA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La clase es el plano, el objeto es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public class Estudiante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private String nombre;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private double nota;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Estudiante(String nombre, double nota)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this.nombre = nombre;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this.nota = nota;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Estudiante ana = new Estudiante("Ana", 4.5);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Estudiante luis = new Estudiante("Luis", 2.8);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Un solo plano: </a:t>
            </a:r>
            <a:r>
              <a:rPr sz="1600" b="0">
                <a:solidFill>
                  <a:srgbClr val="36B5FF"/>
                </a:solidFill>
                <a:latin typeface="Consolas"/>
              </a:rPr>
              <a:t>Estudiante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Dos objetos con </a:t>
            </a:r>
            <a:r>
              <a:rPr sz="1600" b="0">
                <a:solidFill>
                  <a:srgbClr val="36B5FF"/>
                </a:solidFill>
                <a:latin typeface="Consolas"/>
              </a:rPr>
              <a:t>new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Ana y Luis.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El constructor llena los datos de cada 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200" b="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TEMA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Encapsular: el saldo no se toca a mano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private double saldo;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public boolean retirar(double valor)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if (valor &gt; 0 &amp;&amp; valor &lt;= saldo)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saldo = saldo - valor;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true;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false;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public double getSaldo()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saldo;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private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nadie de afuera lo cambia.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Se usa por métodos que validan.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Como un cajero: tú no abres la caja fuerte.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200" b="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TEMA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Herencia: el hijo recibe lo del padre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public class Perro extends Animal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Perro(String nombre)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super(nombre);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@Override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String hacerSonido()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"Guau";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Perro perro = new Perro("Firulais");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System.out.println(perro.getNombre()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+ " dice " + perro.hacerSonido());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extends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Perro recibe el nombre y </a:t>
            </a:r>
            <a:r>
              <a:rPr sz="1600" b="0">
                <a:solidFill>
                  <a:srgbClr val="36B5FF"/>
                </a:solidFill>
                <a:latin typeface="Consolas"/>
              </a:rPr>
              <a:t>getNombre()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 de Animal.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super(nombre)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le entrega el nombre al padre.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36B5FF"/>
                </a:solidFill>
                <a:latin typeface="Consolas"/>
              </a:rPr>
              <a:t>@Override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cambia el sonido que venía del padre.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200" b="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36245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PRÁCTICA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Cómo lo corres y cómo lees un error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2007793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entury Gothic"/>
              </a:rPr>
              <a:t>1. PowerShell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2007793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36B5FF"/>
                </a:solidFill>
                <a:latin typeface="Consolas"/>
              </a:rPr>
              <a:t>cd</a:t>
            </a:r>
            <a:r>
              <a:rPr sz="1400" b="0">
                <a:solidFill>
                  <a:srgbClr val="C9D6E3"/>
                </a:solidFill>
                <a:latin typeface="Century Gothic"/>
              </a:rPr>
              <a:t> a la carpeta del proyecto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9353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5113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3713" y="2286000"/>
            <a:ext cx="2007793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entury Gothic"/>
              </a:rPr>
              <a:t>2. gradle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713" y="2788920"/>
            <a:ext cx="2007793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Compila y ejecuta los ejemplos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582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1586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0186" y="2286000"/>
            <a:ext cx="2007793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entury Gothic"/>
              </a:rPr>
              <a:t>3. Lee la consola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0186" y="2788920"/>
            <a:ext cx="2007793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Un título por tema y </a:t>
            </a:r>
            <a:r>
              <a:rPr sz="1400" b="0">
                <a:solidFill>
                  <a:srgbClr val="36B5FF"/>
                </a:solidFill>
                <a:latin typeface="Consolas"/>
              </a:rPr>
              <a:t>BUILD SUCCESSFUL</a:t>
            </a:r>
            <a:r>
              <a:rPr sz="1400" b="0">
                <a:solidFill>
                  <a:srgbClr val="C9D6E3"/>
                </a:solidFill>
                <a:latin typeface="Century Gothic"/>
              </a:rPr>
              <a:t> al final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1229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78059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06659" y="2286000"/>
            <a:ext cx="2007793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entury Gothic"/>
              </a:rPr>
              <a:t>4. Si falla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6659" y="2788920"/>
            <a:ext cx="2007793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Busca archivo, línea y mensaje: </a:t>
            </a:r>
            <a:r>
              <a:rPr sz="1400" b="0">
                <a:solidFill>
                  <a:srgbClr val="36B5FF"/>
                </a:solidFill>
                <a:latin typeface="Consolas"/>
              </a:rPr>
              <a:t>Variables.java:9: error: ';' expected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0">
                <a:solidFill>
                  <a:srgbClr val="C9D6E3"/>
                </a:solidFill>
                <a:latin typeface="Century Gothic"/>
              </a:rPr>
              <a:t>Otro error que vas a ver: </a:t>
            </a:r>
            <a:r>
              <a:rPr sz="1600" b="0">
                <a:solidFill>
                  <a:srgbClr val="36B5FF"/>
                </a:solidFill>
                <a:latin typeface="Consolas"/>
              </a:rPr>
              <a:t>saldo has private access in CuentaBancaria</a:t>
            </a:r>
            <a:r>
              <a:rPr sz="1600" b="0">
                <a:solidFill>
                  <a:srgbClr val="C9D6E3"/>
                </a:solidFill>
                <a:latin typeface="Century Gothic"/>
              </a:rPr>
              <a:t>. Es el encapsulamiento protegiendo el dato.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200" b="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Tu actividad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36B5FF"/>
                </a:solidFill>
                <a:latin typeface="Century Gothic"/>
              </a:rPr>
              <a:t>✓  </a:t>
            </a:r>
            <a:r>
              <a:rPr sz="1800" b="0">
                <a:solidFill>
                  <a:srgbClr val="FFFFFF"/>
                </a:solidFill>
                <a:latin typeface="Century Gothic"/>
              </a:rPr>
              <a:t>Clase </a:t>
            </a:r>
            <a:r>
              <a:rPr sz="1800" b="0">
                <a:solidFill>
                  <a:srgbClr val="36B5FF"/>
                </a:solidFill>
                <a:latin typeface="Consolas"/>
              </a:rPr>
              <a:t>Producto</a:t>
            </a:r>
            <a:r>
              <a:rPr sz="1800" b="0">
                <a:solidFill>
                  <a:srgbClr val="FFFFFF"/>
                </a:solidFill>
                <a:latin typeface="Century Gothic"/>
              </a:rPr>
              <a:t> con precio privado que no acepta negativos.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36B5FF"/>
                </a:solidFill>
                <a:latin typeface="Century Gothic"/>
              </a:rPr>
              <a:t>✓  </a:t>
            </a:r>
            <a:r>
              <a:rPr sz="1800" b="0">
                <a:solidFill>
                  <a:srgbClr val="FFFFFF"/>
                </a:solidFill>
                <a:latin typeface="Century Gothic"/>
              </a:rPr>
              <a:t>Descuento con </a:t>
            </a:r>
            <a:r>
              <a:rPr sz="1800" b="0">
                <a:solidFill>
                  <a:srgbClr val="36B5FF"/>
                </a:solidFill>
                <a:latin typeface="Consolas"/>
              </a:rPr>
              <a:t>if</a:t>
            </a:r>
            <a:r>
              <a:rPr sz="1800" b="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36B5FF"/>
                </a:solidFill>
                <a:latin typeface="Century Gothic"/>
              </a:rPr>
              <a:t>✓  </a:t>
            </a:r>
            <a:r>
              <a:rPr sz="1800" b="0">
                <a:solidFill>
                  <a:srgbClr val="36B5FF"/>
                </a:solidFill>
                <a:latin typeface="Consolas"/>
              </a:rPr>
              <a:t>ProductoEnOferta</a:t>
            </a:r>
            <a:r>
              <a:rPr sz="1800" b="0">
                <a:solidFill>
                  <a:srgbClr val="FFFFFF"/>
                </a:solidFill>
                <a:latin typeface="Century Gothic"/>
              </a:rPr>
              <a:t> que hereda y sobrescribe.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36B5FF"/>
                </a:solidFill>
                <a:latin typeface="Century Gothic"/>
              </a:rPr>
              <a:t>✓  </a:t>
            </a:r>
            <a:r>
              <a:rPr sz="1800" b="0">
                <a:solidFill>
                  <a:srgbClr val="FFFFFF"/>
                </a:solidFill>
                <a:latin typeface="Century Gothic"/>
              </a:rPr>
              <a:t>Clase </a:t>
            </a:r>
            <a:r>
              <a:rPr sz="1800" b="0">
                <a:solidFill>
                  <a:srgbClr val="36B5FF"/>
                </a:solidFill>
                <a:latin typeface="Consolas"/>
              </a:rPr>
              <a:t>Tienda</a:t>
            </a:r>
            <a:r>
              <a:rPr sz="1800" b="0">
                <a:solidFill>
                  <a:srgbClr val="FFFFFF"/>
                </a:solidFill>
                <a:latin typeface="Century Gothic"/>
              </a:rPr>
              <a:t> que imprime 4 casos con </a:t>
            </a:r>
            <a:r>
              <a:rPr sz="1800" b="0">
                <a:solidFill>
                  <a:srgbClr val="36B5FF"/>
                </a:solidFill>
                <a:latin typeface="Consolas"/>
              </a:rPr>
              <a:t>gradle run</a:t>
            </a:r>
            <a:r>
              <a:rPr sz="1800" b="0">
                <a:solidFill>
                  <a:srgbClr val="FFFFFF"/>
                </a:solidFill>
                <a:latin typeface="Century Gothic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entury Gothic"/>
              </a:rPr>
              <a:t>Entrega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Miércoles 23 de septiembre de 2026, 8:00 a.m.</a:t>
            </a:r>
          </a:p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Repositorio en GitHub o .zip sin la carpeta build</a:t>
            </a:r>
          </a:p>
          <a:p>
            <a:pPr algn="l"/>
            <a:r>
              <a:rPr sz="1400" b="0">
                <a:solidFill>
                  <a:srgbClr val="C9D6E3"/>
                </a:solidFill>
                <a:latin typeface="Century Gothic"/>
              </a:rPr>
              <a:t>Captura de </a:t>
            </a:r>
            <a:r>
              <a:rPr sz="1400" b="0">
                <a:solidFill>
                  <a:srgbClr val="36B5FF"/>
                </a:solidFill>
                <a:latin typeface="Consolas"/>
              </a:rPr>
              <a:t>gradle run</a:t>
            </a:r>
            <a:r>
              <a:rPr sz="1400" b="0">
                <a:solidFill>
                  <a:srgbClr val="C9D6E3"/>
                </a:solidFill>
                <a:latin typeface="Century Gothic"/>
              </a:rPr>
              <a:t> con la salida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200" b="0">
                <a:solidFill>
                  <a:srgbClr val="C9D6E3"/>
                </a:solidFill>
                <a:latin typeface="Century Gothic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TEMA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Polimorfismo: métodos sobrecargados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public class Calculadora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int sumar(int a, int b)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a + b;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int sumar(int a, int b, int c)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a + b + c;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double sumar(double a, double b)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a + b;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calculadora.sumar(2, 3)       // 5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calculadora.sumar(2, 3, 4)    // 9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calculadora.sumar(2.5, 1.5)   // 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Mismo nombre, datos distintos.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Java escoge cuál usar por la cantidad y el tipo de datos.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6B5FF"/>
                </a:solidFill>
                <a:latin typeface="Century Gothic"/>
              </a:rPr>
              <a:t>▸  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No es </a:t>
            </a:r>
            <a:r>
              <a:rPr sz="1600" b="0">
                <a:solidFill>
                  <a:srgbClr val="36B5FF"/>
                </a:solidFill>
                <a:latin typeface="Consolas"/>
              </a:rPr>
              <a:t>@Override</a:t>
            </a:r>
            <a:r>
              <a:rPr sz="1600" b="0">
                <a:solidFill>
                  <a:srgbClr val="FFFFFF"/>
                </a:solidFill>
                <a:latin typeface="Century Gothic"/>
              </a:rPr>
              <a:t>: sobrescribir es cambiar un método del padre.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200" b="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1242</TotalTime>
  <Words>909</Words>
  <Application>Microsoft Macintosh PowerPoint</Application>
  <PresentationFormat>Panorámica</PresentationFormat>
  <Paragraphs>169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Diego Zapata</dc:creator>
  <cp:keywords/>
  <dc:description>generated using python-pptx</dc:description>
  <cp:lastModifiedBy>Diego Alejandro Zapata Betancur</cp:lastModifiedBy>
  <cp:revision>3</cp:revision>
  <dcterms:created xsi:type="dcterms:W3CDTF">2013-01-27T09:14:16Z</dcterms:created>
  <dcterms:modified xsi:type="dcterms:W3CDTF">2026-09-17T14:48:11Z</dcterms:modified>
  <cp:category/>
</cp:coreProperties>
</file>