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7"/>
    <p:sldId id="266" r:id="rId16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737360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entury Gothic"/>
              </a:rPr>
              <a:t>Fundamentos de Java y POO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05840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200" b="0">
                <a:solidFill>
                  <a:srgbClr val="36B5FF"/>
                </a:solidFill>
                <a:latin typeface="Century Gothic"/>
              </a:rPr>
              <a:t>Lo que necesitas saber antes de automatizar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0">
                <a:solidFill>
                  <a:srgbClr val="C9D6E3"/>
                </a:solidFill>
                <a:latin typeface="Century Gothic"/>
              </a:rPr>
              <a:t>Lunes 21 de septiembre de 2026, 9:00 a.m. – 12:00 m.</a:t>
            </a:r>
          </a:p>
          <a:p>
            <a:pPr algn="l"/>
            <a:r>
              <a:rPr sz="1600" b="0">
                <a:solidFill>
                  <a:srgbClr val="C9D6E3"/>
                </a:solidFill>
                <a:latin typeface="Century Gothic"/>
              </a:rPr>
              <a:t>Diego Zapata (Equipo Transversal QS)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5232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Century Gothic"/>
              </a:rPr>
              <a:t>Pla</a:t>
            </a:r>
            <a:r>
              <a:rPr lang="es-419" sz="2800" b="1" dirty="0">
                <a:solidFill>
                  <a:srgbClr val="FFFFFF"/>
                </a:solidFill>
                <a:latin typeface="Century Gothic"/>
              </a:rPr>
              <a:t>n</a:t>
            </a:r>
            <a:endParaRPr sz="28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088538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entury Gothic"/>
              </a:rPr>
              <a:t>9:00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3088538" cy="11658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C9D6E3"/>
                </a:solidFill>
                <a:latin typeface="Century Gothic"/>
              </a:rPr>
              <a:t>Entorno listo</a:t>
            </a:r>
          </a:p>
          <a:p>
            <a:pPr algn="l"/>
            <a:r>
              <a:rPr sz="1400" b="0">
                <a:solidFill>
                  <a:srgbClr val="36B5FF"/>
                </a:solidFill>
                <a:latin typeface="Consolas"/>
              </a:rPr>
              <a:t>gradle run</a:t>
            </a:r>
            <a:r>
              <a:rPr sz="1400" b="0">
                <a:solidFill>
                  <a:srgbClr val="C9D6E3"/>
                </a:solidFill>
                <a:latin typeface="Century Gothic"/>
              </a:rPr>
              <a:t> por primera vez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73736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1578" y="1965960"/>
            <a:ext cx="3088538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entury Gothic"/>
              </a:rPr>
              <a:t>9:20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468880"/>
            <a:ext cx="3088538" cy="11658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C9D6E3"/>
                </a:solidFill>
                <a:latin typeface="Century Gothic"/>
              </a:rPr>
              <a:t>Variables</a:t>
            </a:r>
          </a:p>
          <a:p>
            <a:pPr algn="l"/>
            <a:r>
              <a:rPr sz="1400" b="0">
                <a:solidFill>
                  <a:srgbClr val="C9D6E3"/>
                </a:solidFill>
                <a:latin typeface="Century Gothic"/>
              </a:rPr>
              <a:t>if, switch y ciclos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73736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5916" y="1965960"/>
            <a:ext cx="3088538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entury Gothic"/>
              </a:rPr>
              <a:t>10:00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468880"/>
            <a:ext cx="3088538" cy="11658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C9D6E3"/>
                </a:solidFill>
                <a:latin typeface="Century Gothic"/>
              </a:rPr>
              <a:t>Clases y objetos</a:t>
            </a:r>
          </a:p>
          <a:p>
            <a:pPr algn="l"/>
            <a:r>
              <a:rPr sz="1400" b="0">
                <a:solidFill>
                  <a:srgbClr val="C9D6E3"/>
                </a:solidFill>
                <a:latin typeface="Century Gothic"/>
              </a:rPr>
              <a:t>Encapsulamiento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4622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274820"/>
            <a:ext cx="3088538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entury Gothic"/>
              </a:rPr>
              <a:t>10:40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77740"/>
            <a:ext cx="3088538" cy="11658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C9D6E3"/>
                </a:solidFill>
                <a:latin typeface="Century Gothic"/>
              </a:rPr>
              <a:t>Pausa</a:t>
            </a:r>
          </a:p>
          <a:p>
            <a:pPr algn="l"/>
            <a:r>
              <a:rPr sz="1400" b="0">
                <a:solidFill>
                  <a:srgbClr val="C9D6E3"/>
                </a:solidFill>
                <a:latin typeface="Century Gothic"/>
              </a:rPr>
              <a:t>15 minutos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404622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1578" y="4274820"/>
            <a:ext cx="3088538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entury Gothic"/>
              </a:rPr>
              <a:t>10:55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1578" y="4777740"/>
            <a:ext cx="3088538" cy="5232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 dirty="0">
                <a:solidFill>
                  <a:srgbClr val="C9D6E3"/>
                </a:solidFill>
                <a:latin typeface="Century Gothic"/>
              </a:rPr>
              <a:t>Herencia</a:t>
            </a:r>
          </a:p>
          <a:p>
            <a:pPr algn="l"/>
            <a:endParaRPr sz="1400" b="0" dirty="0">
              <a:solidFill>
                <a:srgbClr val="C9D6E3"/>
              </a:solidFill>
              <a:latin typeface="Century Gothi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C9D6E3"/>
                </a:solidFill>
                <a:latin typeface="Century Gothic"/>
              </a:rPr>
              <a:t>Semillero QA 2026 · Automatización Web · Clase 1 · 01-fundamentos-java-poo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1200" b="0">
                <a:solidFill>
                  <a:srgbClr val="C9D6E3"/>
                </a:solidFill>
                <a:latin typeface="Century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TEMA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Century Gothic"/>
              </a:rPr>
              <a:t>Una variable es </a:t>
            </a:r>
            <a:r>
              <a:rPr sz="2800" b="1" dirty="0" err="1">
                <a:solidFill>
                  <a:srgbClr val="FFFFFF"/>
                </a:solidFill>
                <a:latin typeface="Century Gothic"/>
              </a:rPr>
              <a:t>una</a:t>
            </a:r>
            <a:r>
              <a:rPr sz="2800" b="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entury Gothic"/>
              </a:rPr>
              <a:t>caja</a:t>
            </a:r>
            <a:r>
              <a:rPr sz="2800" b="1" dirty="0">
                <a:solidFill>
                  <a:srgbClr val="FFFFFF"/>
                </a:solidFill>
                <a:latin typeface="Century Gothic"/>
              </a:rPr>
              <a:t> con </a:t>
            </a:r>
            <a:r>
              <a:rPr sz="2800" b="1" dirty="0" err="1">
                <a:solidFill>
                  <a:srgbClr val="FFFFFF"/>
                </a:solidFill>
                <a:latin typeface="Century Gothic"/>
              </a:rPr>
              <a:t>etiqueta</a:t>
            </a:r>
            <a:endParaRPr sz="28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949440" cy="4389120"/>
          </a:xfrm>
          <a:prstGeom prst="roundRect">
            <a:avLst>
              <a:gd name="adj" fmla="val 3000"/>
            </a:avLst>
          </a:prstGeom>
          <a:solidFill>
            <a:srgbClr val="0A1B33"/>
          </a:solidFill>
          <a:ln w="12700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36B5FF"/>
                </a:solidFill>
                <a:latin typeface="Century Gothic"/>
              </a:rPr>
              <a:t>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FFFFFF"/>
                </a:solidFill>
                <a:latin typeface="Consolas"/>
              </a:rPr>
              <a:t>int </a:t>
            </a:r>
            <a:r>
              <a:rPr sz="1300" dirty="0" err="1">
                <a:solidFill>
                  <a:srgbClr val="FFFFFF"/>
                </a:solidFill>
                <a:latin typeface="Consolas"/>
              </a:rPr>
              <a:t>edad</a:t>
            </a:r>
            <a:r>
              <a:rPr sz="1300" dirty="0">
                <a:solidFill>
                  <a:srgbClr val="FFFFFF"/>
                </a:solidFill>
                <a:latin typeface="Consolas"/>
              </a:rPr>
              <a:t> = 20;</a:t>
            </a:r>
          </a:p>
          <a:p>
            <a:r>
              <a:rPr sz="1300" dirty="0">
                <a:solidFill>
                  <a:srgbClr val="FFFFFF"/>
                </a:solidFill>
                <a:latin typeface="Consolas"/>
              </a:rPr>
              <a:t>double </a:t>
            </a:r>
            <a:r>
              <a:rPr sz="1300" dirty="0" err="1">
                <a:solidFill>
                  <a:srgbClr val="FFFFFF"/>
                </a:solidFill>
                <a:latin typeface="Consolas"/>
              </a:rPr>
              <a:t>precio</a:t>
            </a:r>
            <a:r>
              <a:rPr sz="1300" dirty="0">
                <a:solidFill>
                  <a:srgbClr val="FFFFFF"/>
                </a:solidFill>
                <a:latin typeface="Consolas"/>
              </a:rPr>
              <a:t> = 15500.50;</a:t>
            </a:r>
          </a:p>
          <a:p>
            <a:r>
              <a:rPr sz="1300" dirty="0" err="1">
                <a:solidFill>
                  <a:srgbClr val="FFFFFF"/>
                </a:solidFill>
                <a:latin typeface="Consolas"/>
              </a:rPr>
              <a:t>boolean</a:t>
            </a:r>
            <a:r>
              <a:rPr sz="13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Consolas"/>
              </a:rPr>
              <a:t>estaActivo</a:t>
            </a:r>
            <a:r>
              <a:rPr sz="1300" dirty="0">
                <a:solidFill>
                  <a:srgbClr val="FFFFFF"/>
                </a:solidFill>
                <a:latin typeface="Consolas"/>
              </a:rPr>
              <a:t> = true;</a:t>
            </a:r>
          </a:p>
          <a:p>
            <a:r>
              <a:rPr sz="1300" dirty="0">
                <a:solidFill>
                  <a:srgbClr val="FFFFFF"/>
                </a:solidFill>
                <a:latin typeface="Consolas"/>
              </a:rPr>
              <a:t>char </a:t>
            </a:r>
            <a:r>
              <a:rPr sz="1300" dirty="0" err="1">
                <a:solidFill>
                  <a:srgbClr val="FFFFFF"/>
                </a:solidFill>
                <a:latin typeface="Consolas"/>
              </a:rPr>
              <a:t>inicial</a:t>
            </a:r>
            <a:r>
              <a:rPr sz="1300" dirty="0">
                <a:solidFill>
                  <a:srgbClr val="FFFFFF"/>
                </a:solidFill>
                <a:latin typeface="Consolas"/>
              </a:rPr>
              <a:t> = 'D';</a:t>
            </a:r>
          </a:p>
          <a:p>
            <a:r>
              <a:rPr sz="1300" dirty="0">
                <a:solidFill>
                  <a:srgbClr val="FFFFFF"/>
                </a:solidFill>
                <a:latin typeface="Consolas"/>
              </a:rPr>
              <a:t>String </a:t>
            </a:r>
            <a:r>
              <a:rPr sz="1300" dirty="0" err="1">
                <a:solidFill>
                  <a:srgbClr val="FFFFFF"/>
                </a:solidFill>
                <a:latin typeface="Consolas"/>
              </a:rPr>
              <a:t>nombre</a:t>
            </a:r>
            <a:r>
              <a:rPr sz="1300" dirty="0">
                <a:solidFill>
                  <a:srgbClr val="FFFFFF"/>
                </a:solidFill>
                <a:latin typeface="Consolas"/>
              </a:rPr>
              <a:t> = "Diego";</a:t>
            </a:r>
          </a:p>
          <a:p>
            <a:r>
              <a:rPr sz="1300" dirty="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 dirty="0">
                <a:solidFill>
                  <a:srgbClr val="FFFFFF"/>
                </a:solidFill>
                <a:latin typeface="Consolas"/>
              </a:rPr>
              <a:t>int </a:t>
            </a:r>
            <a:r>
              <a:rPr sz="1300" dirty="0" err="1">
                <a:solidFill>
                  <a:srgbClr val="FFFFFF"/>
                </a:solidFill>
                <a:latin typeface="Consolas"/>
              </a:rPr>
              <a:t>edadEnCincoAnios</a:t>
            </a:r>
            <a:r>
              <a:rPr sz="1300" dirty="0">
                <a:solidFill>
                  <a:srgbClr val="FFFFFF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FFFFFF"/>
                </a:solidFill>
                <a:latin typeface="Consolas"/>
              </a:rPr>
              <a:t>edad</a:t>
            </a:r>
            <a:r>
              <a:rPr sz="1300" dirty="0">
                <a:solidFill>
                  <a:srgbClr val="FFFFFF"/>
                </a:solidFill>
                <a:latin typeface="Consolas"/>
              </a:rPr>
              <a:t> + 5;</a:t>
            </a:r>
          </a:p>
          <a:p>
            <a:r>
              <a:rPr sz="1300" dirty="0">
                <a:solidFill>
                  <a:srgbClr val="FFFFFF"/>
                </a:solidFill>
                <a:latin typeface="Consolas"/>
              </a:rPr>
              <a:t>String </a:t>
            </a:r>
            <a:r>
              <a:rPr sz="1300" dirty="0" err="1">
                <a:solidFill>
                  <a:srgbClr val="FFFFFF"/>
                </a:solidFill>
                <a:latin typeface="Consolas"/>
              </a:rPr>
              <a:t>saludo</a:t>
            </a:r>
            <a:r>
              <a:rPr sz="1300" dirty="0">
                <a:solidFill>
                  <a:srgbClr val="FFFFFF"/>
                </a:solidFill>
                <a:latin typeface="Consolas"/>
              </a:rPr>
              <a:t> = "Hola, " + </a:t>
            </a:r>
            <a:r>
              <a:rPr sz="1300" dirty="0" err="1">
                <a:solidFill>
                  <a:srgbClr val="FFFFFF"/>
                </a:solidFill>
                <a:latin typeface="Consolas"/>
              </a:rPr>
              <a:t>nombre</a:t>
            </a:r>
            <a:r>
              <a:rPr sz="1300" dirty="0">
                <a:solidFill>
                  <a:srgbClr val="FFFFFF"/>
                </a:solidFill>
                <a:latin typeface="Consolas"/>
              </a:rPr>
              <a:t>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7792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dirty="0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 dirty="0">
                <a:solidFill>
                  <a:srgbClr val="FFFFFF"/>
                </a:solidFill>
                <a:latin typeface="Century Gothic"/>
              </a:rPr>
              <a:t>El </a:t>
            </a:r>
            <a:r>
              <a:rPr sz="1600" b="0" dirty="0" err="1">
                <a:solidFill>
                  <a:srgbClr val="FFFFFF"/>
                </a:solidFill>
                <a:latin typeface="Century Gothic"/>
              </a:rPr>
              <a:t>tipo</a:t>
            </a:r>
            <a:r>
              <a:rPr sz="1600" b="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entury Gothic"/>
              </a:rPr>
              <a:t>va</a:t>
            </a:r>
            <a:r>
              <a:rPr sz="1600" b="0" dirty="0">
                <a:solidFill>
                  <a:srgbClr val="FFFFFF"/>
                </a:solidFill>
                <a:latin typeface="Century Gothic"/>
              </a:rPr>
              <a:t> primero: dice </a:t>
            </a:r>
            <a:r>
              <a:rPr sz="1600" b="0" dirty="0" err="1">
                <a:solidFill>
                  <a:srgbClr val="FFFFFF"/>
                </a:solidFill>
                <a:latin typeface="Century Gothic"/>
              </a:rPr>
              <a:t>qué</a:t>
            </a:r>
            <a:r>
              <a:rPr sz="1600" b="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entury Gothic"/>
              </a:rPr>
              <a:t>cabe</a:t>
            </a:r>
            <a:r>
              <a:rPr sz="1600" b="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entury Gothic"/>
              </a:rPr>
              <a:t>en</a:t>
            </a:r>
            <a:r>
              <a:rPr sz="1600" b="0" dirty="0">
                <a:solidFill>
                  <a:srgbClr val="FFFFFF"/>
                </a:solidFill>
                <a:latin typeface="Century Gothic"/>
              </a:rPr>
              <a:t> la </a:t>
            </a:r>
            <a:r>
              <a:rPr sz="1600" b="0" dirty="0" err="1">
                <a:solidFill>
                  <a:srgbClr val="FFFFFF"/>
                </a:solidFill>
                <a:latin typeface="Century Gothic"/>
              </a:rPr>
              <a:t>caja</a:t>
            </a:r>
            <a:r>
              <a:rPr sz="1600" b="0" dirty="0">
                <a:solidFill>
                  <a:srgbClr val="FFFFFF"/>
                </a:solidFill>
                <a:latin typeface="Century Gothic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 dirty="0">
                <a:solidFill>
                  <a:srgbClr val="FFFFFF"/>
                </a:solidFill>
                <a:latin typeface="Century Gothic"/>
              </a:rPr>
              <a:t>Cada </a:t>
            </a:r>
            <a:r>
              <a:rPr sz="1600" b="0" dirty="0" err="1">
                <a:solidFill>
                  <a:srgbClr val="FFFFFF"/>
                </a:solidFill>
                <a:latin typeface="Century Gothic"/>
              </a:rPr>
              <a:t>instrucción</a:t>
            </a:r>
            <a:r>
              <a:rPr sz="1600" b="0" dirty="0">
                <a:solidFill>
                  <a:srgbClr val="FFFFFF"/>
                </a:solidFill>
                <a:latin typeface="Century Gothic"/>
              </a:rPr>
              <a:t> termina </a:t>
            </a:r>
            <a:r>
              <a:rPr sz="1600" b="0" dirty="0" err="1">
                <a:solidFill>
                  <a:srgbClr val="FFFFFF"/>
                </a:solidFill>
                <a:latin typeface="Century Gothic"/>
              </a:rPr>
              <a:t>en</a:t>
            </a:r>
            <a:r>
              <a:rPr sz="1600" b="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sz="1600" b="0" dirty="0">
                <a:solidFill>
                  <a:srgbClr val="36B5FF"/>
                </a:solidFill>
                <a:latin typeface="Consolas"/>
              </a:rPr>
              <a:t>;</a:t>
            </a:r>
            <a:r>
              <a:rPr sz="1600" b="0" dirty="0">
                <a:solidFill>
                  <a:srgbClr val="FFFFFF"/>
                </a:solidFill>
                <a:latin typeface="Century Gothic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 dirty="0">
                <a:solidFill>
                  <a:srgbClr val="36B5FF"/>
                </a:solidFill>
                <a:latin typeface="Consolas"/>
              </a:rPr>
              <a:t>+</a:t>
            </a:r>
            <a:r>
              <a:rPr sz="1600" b="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entury Gothic"/>
              </a:rPr>
              <a:t>suma</a:t>
            </a:r>
            <a:r>
              <a:rPr sz="1600" b="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entury Gothic"/>
              </a:rPr>
              <a:t>números</a:t>
            </a:r>
            <a:r>
              <a:rPr sz="1600" b="0" dirty="0">
                <a:solidFill>
                  <a:srgbClr val="FFFFFF"/>
                </a:solidFill>
                <a:latin typeface="Century Gothic"/>
              </a:rPr>
              <a:t> y </a:t>
            </a:r>
            <a:r>
              <a:rPr sz="1600" b="0" dirty="0" err="1">
                <a:solidFill>
                  <a:srgbClr val="FFFFFF"/>
                </a:solidFill>
                <a:latin typeface="Century Gothic"/>
              </a:rPr>
              <a:t>pega</a:t>
            </a:r>
            <a:r>
              <a:rPr sz="1600" b="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entury Gothic"/>
              </a:rPr>
              <a:t>textos</a:t>
            </a:r>
            <a:r>
              <a:rPr sz="1600" b="0" dirty="0">
                <a:solidFill>
                  <a:srgbClr val="FFFFFF"/>
                </a:solidFill>
                <a:latin typeface="Century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C9D6E3"/>
                </a:solidFill>
                <a:latin typeface="Century Gothic"/>
              </a:rPr>
              <a:t>Semillero QA 2026 · Automatización Web · Clase 1 · 01-fundamentos-java-poo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1200" b="0">
                <a:solidFill>
                  <a:srgbClr val="C9D6E3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TEMA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entury Gothic"/>
              </a:rPr>
              <a:t>El programa toma decisiones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949440" cy="4389120"/>
          </a:xfrm>
          <a:prstGeom prst="roundRect">
            <a:avLst>
              <a:gd name="adj" fmla="val 3000"/>
            </a:avLst>
          </a:prstGeom>
          <a:solidFill>
            <a:srgbClr val="0A1B33"/>
          </a:solidFill>
          <a:ln w="12700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36B5FF"/>
                </a:solidFill>
                <a:latin typeface="Century Gothic"/>
              </a:rPr>
              <a:t>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if (nota &gt;= NOTA_MINIMA)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return "Aprobado";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 else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return "Reprobado";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switch (color)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case "verde":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return "Siga";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case "amarillo":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return "Despacio";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...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7792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36B5FF"/>
                </a:solidFill>
                <a:latin typeface="Consolas"/>
              </a:rPr>
              <a:t>if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: una pregunta de sí o no.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36B5FF"/>
                </a:solidFill>
                <a:latin typeface="Consolas"/>
              </a:rPr>
              <a:t>&gt;=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 es mayor o igual: 3.0 aprueba.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36B5FF"/>
                </a:solidFill>
                <a:latin typeface="Consolas"/>
              </a:rPr>
              <a:t>switch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: varias opciones, como un semáforo.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36B5FF"/>
                </a:solidFill>
                <a:latin typeface="Consolas"/>
              </a:rPr>
              <a:t>default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: lo que no está en la lista.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C9D6E3"/>
                </a:solidFill>
                <a:latin typeface="Century Gothic"/>
              </a:rPr>
              <a:t>Semillero QA 2026 · Automatización Web · Clase 1 · 01-fundamentos-java-poo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1200" b="0">
                <a:solidFill>
                  <a:srgbClr val="C9D6E3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TEMA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entury Gothic"/>
              </a:rPr>
              <a:t>Repetir sin copiar y pegar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949440" cy="4389120"/>
          </a:xfrm>
          <a:prstGeom prst="roundRect">
            <a:avLst>
              <a:gd name="adj" fmla="val 3000"/>
            </a:avLst>
          </a:prstGeom>
          <a:solidFill>
            <a:srgbClr val="0A1B33"/>
          </a:solidFill>
          <a:ln w="12700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36B5FF"/>
                </a:solidFill>
                <a:latin typeface="Century Gothic"/>
              </a:rPr>
              <a:t>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for (int i = 1; i &lt;= 5; i++)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System.out.println("Vuelta numero " + i);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int intento = 1;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while (intento &lt;= 3)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System.out.println("Intento de login " + intento);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intento++;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for (String nombre : nombres)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System.out.println("Hola, " + nombre);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7792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36B5FF"/>
                </a:solidFill>
                <a:latin typeface="Consolas"/>
              </a:rPr>
              <a:t>for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: sé cuántas vueltas quiero.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36B5FF"/>
                </a:solidFill>
                <a:latin typeface="Consolas"/>
              </a:rPr>
              <a:t>while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: repito mientras algo sea cierto.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36B5FF"/>
                </a:solidFill>
                <a:latin typeface="Consolas"/>
              </a:rPr>
              <a:t>for-each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: recorro una lista completa.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C9D6E3"/>
                </a:solidFill>
                <a:latin typeface="Century Gothic"/>
              </a:rPr>
              <a:t>Semillero QA 2026 · Automatización Web · Clase 1 · 01-fundamentos-java-poo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1200" b="0">
                <a:solidFill>
                  <a:srgbClr val="C9D6E3"/>
                </a:solidFill>
                <a:latin typeface="Century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TEMA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entury Gothic"/>
              </a:rPr>
              <a:t>La clase es el plano, el objeto es la casa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949440" cy="4389120"/>
          </a:xfrm>
          <a:prstGeom prst="roundRect">
            <a:avLst>
              <a:gd name="adj" fmla="val 3000"/>
            </a:avLst>
          </a:prstGeom>
          <a:solidFill>
            <a:srgbClr val="0A1B33"/>
          </a:solidFill>
          <a:ln w="12700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36B5FF"/>
                </a:solidFill>
                <a:latin typeface="Century Gothic"/>
              </a:rPr>
              <a:t>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public class Estudiante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private String nombre;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private double nota;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public Estudiante(String nombre, double nota)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this.nombre = nombre;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this.nota = nota;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Estudiante ana = new Estudiante("Ana", 4.5);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Estudiante luis = new Estudiante("Luis", 2.8);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7792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Un solo plano: </a:t>
            </a:r>
            <a:r>
              <a:rPr sz="1600" b="0">
                <a:solidFill>
                  <a:srgbClr val="36B5FF"/>
                </a:solidFill>
                <a:latin typeface="Consolas"/>
              </a:rPr>
              <a:t>Estudiante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Dos objetos con </a:t>
            </a:r>
            <a:r>
              <a:rPr sz="1600" b="0">
                <a:solidFill>
                  <a:srgbClr val="36B5FF"/>
                </a:solidFill>
                <a:latin typeface="Consolas"/>
              </a:rPr>
              <a:t>new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: Ana y Luis.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El constructor llena los datos de cada uno.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C9D6E3"/>
                </a:solidFill>
                <a:latin typeface="Century Gothic"/>
              </a:rPr>
              <a:t>Semillero QA 2026 · Automatización Web · Clase 1 · 01-fundamentos-java-poo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1200" b="0">
                <a:solidFill>
                  <a:srgbClr val="C9D6E3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TEMA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entury Gothic"/>
              </a:rPr>
              <a:t>Encapsular: el saldo no se toca a mano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949440" cy="4389120"/>
          </a:xfrm>
          <a:prstGeom prst="roundRect">
            <a:avLst>
              <a:gd name="adj" fmla="val 3000"/>
            </a:avLst>
          </a:prstGeom>
          <a:solidFill>
            <a:srgbClr val="0A1B33"/>
          </a:solidFill>
          <a:ln w="12700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36B5FF"/>
                </a:solidFill>
                <a:latin typeface="Century Gothic"/>
              </a:rPr>
              <a:t>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private double saldo;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public boolean retirar(double valor)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if (valor &gt; 0 &amp;&amp; valor &lt;= saldo)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saldo = saldo - valor;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return true;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return false;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public double getSaldo()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return saldo;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7792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36B5FF"/>
                </a:solidFill>
                <a:latin typeface="Consolas"/>
              </a:rPr>
              <a:t>private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: nadie de afuera lo cambia.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Se usa por métodos que validan.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Como un cajero: tú no abres la caja fuerte.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C9D6E3"/>
                </a:solidFill>
                <a:latin typeface="Century Gothic"/>
              </a:rPr>
              <a:t>Semillero QA 2026 · Automatización Web · Clase 1 · 01-fundamentos-java-poo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1200" b="0">
                <a:solidFill>
                  <a:srgbClr val="C9D6E3"/>
                </a:solidFill>
                <a:latin typeface="Century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TEMA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entury Gothic"/>
              </a:rPr>
              <a:t>Herencia: el hijo recibe lo del padre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949440" cy="4389120"/>
          </a:xfrm>
          <a:prstGeom prst="roundRect">
            <a:avLst>
              <a:gd name="adj" fmla="val 3000"/>
            </a:avLst>
          </a:prstGeom>
          <a:solidFill>
            <a:srgbClr val="0A1B33"/>
          </a:solidFill>
          <a:ln w="12700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36B5FF"/>
                </a:solidFill>
                <a:latin typeface="Century Gothic"/>
              </a:rPr>
              <a:t>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public class Perro extends Animal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public Perro(String nombre)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super(nombre);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@Override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public String hacerSonido()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return "Guau";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Perro perro = new Perro("Firulais");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System.out.println(perro.getNombre()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+ " dice " + perro.hacerSonido());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7792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36B5FF"/>
                </a:solidFill>
                <a:latin typeface="Consolas"/>
              </a:rPr>
              <a:t>extends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: Perro recibe el nombre y </a:t>
            </a:r>
            <a:r>
              <a:rPr sz="1600" b="0">
                <a:solidFill>
                  <a:srgbClr val="36B5FF"/>
                </a:solidFill>
                <a:latin typeface="Consolas"/>
              </a:rPr>
              <a:t>getNombre()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 de Animal.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36B5FF"/>
                </a:solidFill>
                <a:latin typeface="Consolas"/>
              </a:rPr>
              <a:t>super(nombre)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: le entrega el nombre al padre.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36B5FF"/>
                </a:solidFill>
                <a:latin typeface="Consolas"/>
              </a:rPr>
              <a:t>@Override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: cambia el sonido que venía del padre.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C9D6E3"/>
                </a:solidFill>
                <a:latin typeface="Century Gothic"/>
              </a:rPr>
              <a:t>Semillero QA 2026 · Automatización Web · Clase 1 · 01-fundamentos-java-poo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1200" b="0">
                <a:solidFill>
                  <a:srgbClr val="C9D6E3"/>
                </a:solidFill>
                <a:latin typeface="Century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TEMA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entury Gothic"/>
              </a:rPr>
              <a:t>Polimorfismo: métodos sobrecargados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949440" cy="4389120"/>
          </a:xfrm>
          <a:prstGeom prst="roundRect">
            <a:avLst>
              <a:gd name="adj" fmla="val 3000"/>
            </a:avLst>
          </a:prstGeom>
          <a:solidFill>
            <a:srgbClr val="0A1B33"/>
          </a:solidFill>
          <a:ln w="12700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36B5FF"/>
                </a:solidFill>
                <a:latin typeface="Century Gothic"/>
              </a:rPr>
              <a:t>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public class Calculadora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public int sumar(int a, int b)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return a + b;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public int sumar(int a, int b, int c)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return a + b + c;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public double sumar(double a, double b)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return a + b;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calculadora.sumar(2, 3)       // 5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calculadora.sumar(2, 3, 4)    // 9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calculadora.sumar(2.5, 1.5)   // 4.0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7792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Mismo nombre, datos distintos.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Java escoge cuál usar por la cantidad y el tipo de datos.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6B5FF"/>
                </a:solidFill>
                <a:latin typeface="Century Gothic"/>
              </a:rPr>
              <a:t>▸  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No es </a:t>
            </a:r>
            <a:r>
              <a:rPr sz="1600" b="0">
                <a:solidFill>
                  <a:srgbClr val="36B5FF"/>
                </a:solidFill>
                <a:latin typeface="Consolas"/>
              </a:rPr>
              <a:t>@Override</a:t>
            </a:r>
            <a:r>
              <a:rPr sz="1600" b="0">
                <a:solidFill>
                  <a:srgbClr val="FFFFFF"/>
                </a:solidFill>
                <a:latin typeface="Century Gothic"/>
              </a:rPr>
              <a:t>: sobrescribir es cambiar un método del padre.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C9D6E3"/>
                </a:solidFill>
                <a:latin typeface="Century Gothic"/>
              </a:rPr>
              <a:t>Semillero QA 2026 · Automatización Web · Clase 1 · 01-fundamentos-java-poo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1200" b="0">
                <a:solidFill>
                  <a:srgbClr val="C9D6E3"/>
                </a:solidFill>
                <a:latin typeface="Century Gothic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1362456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entury Gothic"/>
              </a:rPr>
              <a:t>Cómo lo corres y cómo lees un error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2464993" cy="26517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2007793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entury Gothic"/>
              </a:rPr>
              <a:t>1. PowerShell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2007793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36B5FF"/>
                </a:solidFill>
                <a:latin typeface="Consolas"/>
              </a:rPr>
              <a:t>cd</a:t>
            </a:r>
            <a:r>
              <a:rPr sz="1400" b="0">
                <a:solidFill>
                  <a:srgbClr val="C9D6E3"/>
                </a:solidFill>
                <a:latin typeface="Century Gothic"/>
              </a:rPr>
              <a:t> a la carpeta del proyecto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59353" y="3383280"/>
            <a:ext cx="320040" cy="0"/>
          </a:xfrm>
          <a:prstGeom prst="line">
            <a:avLst/>
          </a:prstGeom>
          <a:ln w="31750">
            <a:solidFill>
              <a:srgbClr val="36B5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5113" y="2057400"/>
            <a:ext cx="2464993" cy="265176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3713" y="2286000"/>
            <a:ext cx="2007793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entury Gothic"/>
              </a:rPr>
              <a:t>2. gradle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3713" y="2788920"/>
            <a:ext cx="2007793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C9D6E3"/>
                </a:solidFill>
                <a:latin typeface="Century Gothic"/>
              </a:rPr>
              <a:t>Compila y ejecuta los ejemplos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35826" y="3383280"/>
            <a:ext cx="320040" cy="0"/>
          </a:xfrm>
          <a:prstGeom prst="line">
            <a:avLst/>
          </a:prstGeom>
          <a:ln w="31750">
            <a:solidFill>
              <a:srgbClr val="36B5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1586" y="2057400"/>
            <a:ext cx="2464993" cy="26517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0186" y="2286000"/>
            <a:ext cx="2007793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entury Gothic"/>
              </a:rPr>
              <a:t>3. Lee la consola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0186" y="2788920"/>
            <a:ext cx="2007793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C9D6E3"/>
                </a:solidFill>
                <a:latin typeface="Century Gothic"/>
              </a:rPr>
              <a:t>Un título por tema y </a:t>
            </a:r>
            <a:r>
              <a:rPr sz="1400" b="0">
                <a:solidFill>
                  <a:srgbClr val="36B5FF"/>
                </a:solidFill>
                <a:latin typeface="Consolas"/>
              </a:rPr>
              <a:t>BUILD SUCCESSFUL</a:t>
            </a:r>
            <a:r>
              <a:rPr sz="1400" b="0">
                <a:solidFill>
                  <a:srgbClr val="C9D6E3"/>
                </a:solidFill>
                <a:latin typeface="Century Gothic"/>
              </a:rPr>
              <a:t> al final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12299" y="3383280"/>
            <a:ext cx="320040" cy="0"/>
          </a:xfrm>
          <a:prstGeom prst="line">
            <a:avLst/>
          </a:prstGeom>
          <a:ln w="31750">
            <a:solidFill>
              <a:srgbClr val="36B5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78059" y="2057400"/>
            <a:ext cx="2464993" cy="265176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06659" y="2286000"/>
            <a:ext cx="2007793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entury Gothic"/>
              </a:rPr>
              <a:t>4. Si falla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6659" y="2788920"/>
            <a:ext cx="2007793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C9D6E3"/>
                </a:solidFill>
                <a:latin typeface="Century Gothic"/>
              </a:rPr>
              <a:t>Busca archivo, línea y mensaje: </a:t>
            </a:r>
            <a:r>
              <a:rPr sz="1400" b="0">
                <a:solidFill>
                  <a:srgbClr val="36B5FF"/>
                </a:solidFill>
                <a:latin typeface="Consolas"/>
              </a:rPr>
              <a:t>Variables.java:9: error: ';' expected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094415" cy="109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0">
                <a:solidFill>
                  <a:srgbClr val="C9D6E3"/>
                </a:solidFill>
                <a:latin typeface="Century Gothic"/>
              </a:rPr>
              <a:t>Otro error que vas a ver: </a:t>
            </a:r>
            <a:r>
              <a:rPr sz="1600" b="0">
                <a:solidFill>
                  <a:srgbClr val="36B5FF"/>
                </a:solidFill>
                <a:latin typeface="Consolas"/>
              </a:rPr>
              <a:t>saldo has private access in CuentaBancaria</a:t>
            </a:r>
            <a:r>
              <a:rPr sz="1600" b="0">
                <a:solidFill>
                  <a:srgbClr val="C9D6E3"/>
                </a:solidFill>
                <a:latin typeface="Century Gothic"/>
              </a:rPr>
              <a:t>. Es el encapsulamiento protegiendo el dato.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C9D6E3"/>
                </a:solidFill>
                <a:latin typeface="Century Gothic"/>
              </a:rPr>
              <a:t>Semillero QA 2026 · Automatización Web · Clase 1 · 01-fundamentos-java-poo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1200" b="0">
                <a:solidFill>
                  <a:srgbClr val="C9D6E3"/>
                </a:solidFill>
                <a:latin typeface="Century Gothic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entury Gothic"/>
              </a:rPr>
              <a:t>Tu actividad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6766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36B5FF"/>
                </a:solidFill>
                <a:latin typeface="Century Gothic"/>
              </a:rPr>
              <a:t>✓  </a:t>
            </a:r>
            <a:r>
              <a:rPr sz="1800" b="0">
                <a:solidFill>
                  <a:srgbClr val="FFFFFF"/>
                </a:solidFill>
                <a:latin typeface="Century Gothic"/>
              </a:rPr>
              <a:t>Clase </a:t>
            </a:r>
            <a:r>
              <a:rPr sz="1800" b="0">
                <a:solidFill>
                  <a:srgbClr val="36B5FF"/>
                </a:solidFill>
                <a:latin typeface="Consolas"/>
              </a:rPr>
              <a:t>Producto</a:t>
            </a:r>
            <a:r>
              <a:rPr sz="1800" b="0">
                <a:solidFill>
                  <a:srgbClr val="FFFFFF"/>
                </a:solidFill>
                <a:latin typeface="Century Gothic"/>
              </a:rPr>
              <a:t> con precio privado que no acepta negativos.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6B5FF"/>
                </a:solidFill>
                <a:latin typeface="Century Gothic"/>
              </a:rPr>
              <a:t>✓  </a:t>
            </a:r>
            <a:r>
              <a:rPr sz="1800" b="0">
                <a:solidFill>
                  <a:srgbClr val="FFFFFF"/>
                </a:solidFill>
                <a:latin typeface="Century Gothic"/>
              </a:rPr>
              <a:t>Descuento con </a:t>
            </a:r>
            <a:r>
              <a:rPr sz="1800" b="0">
                <a:solidFill>
                  <a:srgbClr val="36B5FF"/>
                </a:solidFill>
                <a:latin typeface="Consolas"/>
              </a:rPr>
              <a:t>if</a:t>
            </a:r>
            <a:r>
              <a:rPr sz="1800" b="0">
                <a:solidFill>
                  <a:srgbClr val="FFFFFF"/>
                </a:solidFill>
                <a:latin typeface="Century Gothic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6B5FF"/>
                </a:solidFill>
                <a:latin typeface="Century Gothic"/>
              </a:rPr>
              <a:t>✓  </a:t>
            </a:r>
            <a:r>
              <a:rPr sz="1800" b="0">
                <a:solidFill>
                  <a:srgbClr val="36B5FF"/>
                </a:solidFill>
                <a:latin typeface="Consolas"/>
              </a:rPr>
              <a:t>ProductoEnOferta</a:t>
            </a:r>
            <a:r>
              <a:rPr sz="1800" b="0">
                <a:solidFill>
                  <a:srgbClr val="FFFFFF"/>
                </a:solidFill>
                <a:latin typeface="Century Gothic"/>
              </a:rPr>
              <a:t> que hereda y sobrescribe.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6B5FF"/>
                </a:solidFill>
                <a:latin typeface="Century Gothic"/>
              </a:rPr>
              <a:t>✓  </a:t>
            </a:r>
            <a:r>
              <a:rPr sz="1800" b="0">
                <a:solidFill>
                  <a:srgbClr val="FFFFFF"/>
                </a:solidFill>
                <a:latin typeface="Century Gothic"/>
              </a:rPr>
              <a:t>Clase </a:t>
            </a:r>
            <a:r>
              <a:rPr sz="1800" b="0">
                <a:solidFill>
                  <a:srgbClr val="36B5FF"/>
                </a:solidFill>
                <a:latin typeface="Consolas"/>
              </a:rPr>
              <a:t>Tienda</a:t>
            </a:r>
            <a:r>
              <a:rPr sz="1800" b="0">
                <a:solidFill>
                  <a:srgbClr val="FFFFFF"/>
                </a:solidFill>
                <a:latin typeface="Century Gothic"/>
              </a:rPr>
              <a:t> que imprime 4 casos con </a:t>
            </a:r>
            <a:r>
              <a:rPr sz="1800" b="0">
                <a:solidFill>
                  <a:srgbClr val="36B5FF"/>
                </a:solidFill>
                <a:latin typeface="Consolas"/>
              </a:rPr>
              <a:t>gradle run</a:t>
            </a:r>
            <a:r>
              <a:rPr sz="1800" b="0">
                <a:solidFill>
                  <a:srgbClr val="FFFFFF"/>
                </a:solidFill>
                <a:latin typeface="Century Gothic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737360"/>
            <a:ext cx="3962095" cy="393192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09560" y="1965960"/>
            <a:ext cx="3504895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entury Gothic"/>
              </a:rPr>
              <a:t>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468880"/>
            <a:ext cx="3504895" cy="3017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C9D6E3"/>
                </a:solidFill>
                <a:latin typeface="Century Gothic"/>
              </a:rPr>
              <a:t>Miércoles 23 de septiembre de 2026, 8:00 a.m.</a:t>
            </a:r>
          </a:p>
          <a:p>
            <a:pPr algn="l"/>
            <a:r>
              <a:rPr sz="1400" b="0">
                <a:solidFill>
                  <a:srgbClr val="C9D6E3"/>
                </a:solidFill>
                <a:latin typeface="Century Gothic"/>
              </a:rPr>
              <a:t>Repositorio en GitHub o .zip sin la carpeta build</a:t>
            </a:r>
          </a:p>
          <a:p>
            <a:pPr algn="l"/>
            <a:r>
              <a:rPr sz="1400" b="0">
                <a:solidFill>
                  <a:srgbClr val="C9D6E3"/>
                </a:solidFill>
                <a:latin typeface="Century Gothic"/>
              </a:rPr>
              <a:t>Captura de </a:t>
            </a:r>
            <a:r>
              <a:rPr sz="1400" b="0">
                <a:solidFill>
                  <a:srgbClr val="36B5FF"/>
                </a:solidFill>
                <a:latin typeface="Consolas"/>
              </a:rPr>
              <a:t>gradle run</a:t>
            </a:r>
            <a:r>
              <a:rPr sz="1400" b="0">
                <a:solidFill>
                  <a:srgbClr val="C9D6E3"/>
                </a:solidFill>
                <a:latin typeface="Century Gothic"/>
              </a:rPr>
              <a:t> con la salida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C9D6E3"/>
                </a:solidFill>
                <a:latin typeface="Century Gothic"/>
              </a:rPr>
              <a:t>Semillero QA 2026 · Automatización Web · Clase 1 · 01-fundamentos-java-poo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1200" b="0">
                <a:solidFill>
                  <a:srgbClr val="C9D6E3"/>
                </a:solidFill>
                <a:latin typeface="Century Gothic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TEMA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entury Gothic"/>
              </a:rPr>
              <a:t>Heredar o firmar un compromiso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669280" cy="4389120"/>
          </a:xfrm>
          <a:prstGeom prst="roundRect">
            <a:avLst>
              <a:gd name="adj" fmla="val 3000"/>
            </a:avLst>
          </a:prstGeom>
          <a:solidFill>
            <a:srgbClr val="0A1B33"/>
          </a:solidFill>
          <a:ln w="12700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36B5FF"/>
                </a:solidFill>
                <a:latin typeface="Century Gothic"/>
              </a:rPr>
              <a:t>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public interface Volador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String volar();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public class Pajaro implements Volador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@Override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public String volar()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return "vuela moviendo las alas";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public class Perro extends Animal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...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C9D6E3"/>
                </a:solidFill>
                <a:latin typeface="Century Gothic"/>
              </a:rPr>
              <a:t>Semillero QA 2026 · Automatización Web · Clase 1 · 01-fundamentos-java-poo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1200" b="0">
                <a:solidFill>
                  <a:srgbClr val="C9D6E3"/>
                </a:solidFill>
                <a:latin typeface="Century Gothic"/>
              </a:rPr>
              <a:t>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92240" y="1920240"/>
          <a:ext cx="514807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911095"/>
                <a:gridCol w="191109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marL="91440" marR="91440">
                    <a:solidFill>
                      <a:srgbClr val="0072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onsolas"/>
                        </a:rPr>
                        <a:t>extends</a:t>
                      </a:r>
                    </a:p>
                  </a:txBody>
                  <a:tcPr marL="91440" marR="91440">
                    <a:solidFill>
                      <a:srgbClr val="0072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onsolas"/>
                        </a:rPr>
                        <a:t>implements</a:t>
                      </a:r>
                    </a:p>
                  </a:txBody>
                  <a:tcPr marL="91440" marR="91440">
                    <a:solidFill>
                      <a:srgbClr val="0072B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Qué recibe</a:t>
                      </a:r>
                    </a:p>
                  </a:txBody>
                  <a:tcPr marL="91440" marR="91440"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entury Gothic"/>
                        </a:rPr>
                        <a:t>Código ya hecho del padre</a:t>
                      </a:r>
                    </a:p>
                  </a:txBody>
                  <a:tcPr marL="91440" marR="91440"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entury Gothic"/>
                        </a:rPr>
                        <a:t>La obligación de escribirlo</a:t>
                      </a:r>
                    </a:p>
                  </a:txBody>
                  <a:tcPr marL="91440" marR="91440">
                    <a:solidFill>
                      <a:srgbClr val="0B2C5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Cuántas</a:t>
                      </a:r>
                    </a:p>
                  </a:txBody>
                  <a:tcPr marL="91440" marR="91440"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entury Gothic"/>
                        </a:rPr>
                        <a:t>Una sola clase padre</a:t>
                      </a:r>
                    </a:p>
                  </a:txBody>
                  <a:tcPr marL="91440" marR="91440"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entury Gothic"/>
                        </a:rPr>
                        <a:t>Varias interfaces</a:t>
                      </a:r>
                    </a:p>
                  </a:txBody>
                  <a:tcPr marL="91440" marR="91440">
                    <a:solidFill>
                      <a:srgbClr val="08264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En el proyecto</a:t>
                      </a:r>
                    </a:p>
                  </a:txBody>
                  <a:tcPr marL="91440" marR="91440"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entury Gothic"/>
                        </a:rPr>
                        <a:t>Perro y Animal</a:t>
                      </a:r>
                    </a:p>
                  </a:txBody>
                  <a:tcPr marL="91440" marR="91440"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entury Gothic"/>
                        </a:rPr>
                        <a:t>Pajaro y Volador</a:t>
                      </a:r>
                    </a:p>
                  </a:txBody>
                  <a:tcPr marL="91440" marR="91440">
                    <a:solidFill>
                      <a:srgbClr val="0B2C5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</TotalTime>
  <Words>909</Words>
  <Application>Microsoft Macintosh PowerPoint</Application>
  <PresentationFormat>Panorámica</PresentationFormat>
  <Paragraphs>169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Diego Zapata</dc:creator>
  <cp:keywords/>
  <dc:description>generated using python-pptx</dc:description>
  <cp:lastModifiedBy>Diego Alejandro Zapata Betancur</cp:lastModifiedBy>
  <cp:revision>3</cp:revision>
  <dcterms:created xsi:type="dcterms:W3CDTF">2013-01-27T09:14:16Z</dcterms:created>
  <dcterms:modified xsi:type="dcterms:W3CDTF">2026-09-17T14:48:11Z</dcterms:modified>
  <cp:category/>
</cp:coreProperties>
</file>